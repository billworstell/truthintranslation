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61" r:id="rId6"/>
    <p:sldId id="259"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7" autoAdjust="0"/>
    <p:restoredTop sz="94660"/>
  </p:normalViewPr>
  <p:slideViewPr>
    <p:cSldViewPr snapToGrid="0" showGuides="1">
      <p:cViewPr>
        <p:scale>
          <a:sx n="90" d="100"/>
          <a:sy n="90" d="100"/>
        </p:scale>
        <p:origin x="126" y="1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666A2-EF05-7165-7F62-A48A43B0F1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5D7148-0852-0676-8760-C969100BAF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4BFBF1-491F-D808-2101-8F34CCD85645}"/>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5" name="Footer Placeholder 4">
            <a:extLst>
              <a:ext uri="{FF2B5EF4-FFF2-40B4-BE49-F238E27FC236}">
                <a16:creationId xmlns:a16="http://schemas.microsoft.com/office/drawing/2014/main" id="{95A59F62-7111-1BF5-DA41-DAEC52E03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0A9035-985A-0844-50C5-6936DBF54BD4}"/>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1650240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7ACF2-F9D0-4F96-54F3-DA7558B141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561C5E-2471-DDC1-4E87-A0E9895E41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DDCA2E-E25F-85E1-4520-0A2DD62BDB4D}"/>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5" name="Footer Placeholder 4">
            <a:extLst>
              <a:ext uri="{FF2B5EF4-FFF2-40B4-BE49-F238E27FC236}">
                <a16:creationId xmlns:a16="http://schemas.microsoft.com/office/drawing/2014/main" id="{47AA3A03-1267-7C2B-2E09-2B2E76898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91CC5D-8DE2-0343-4476-743FEEC51EBE}"/>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2066583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654FA-52A6-FA65-EC3E-8F57CED33D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F6AD24-4A37-23A1-6451-A22BF8ED0A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C5117-81DD-A3A2-80A3-CFE07556B779}"/>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5" name="Footer Placeholder 4">
            <a:extLst>
              <a:ext uri="{FF2B5EF4-FFF2-40B4-BE49-F238E27FC236}">
                <a16:creationId xmlns:a16="http://schemas.microsoft.com/office/drawing/2014/main" id="{55DAE115-DC87-D7A9-6645-2BB80B019A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875AF4-D0A6-6AA5-9973-86691D6457ED}"/>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2046016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2906B-F3E4-1D90-6D3D-5B540655D7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ACB56A-4A4C-FD5A-4B97-19F55D5052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A9FA3A-1FE0-7223-E82B-15DE3733E5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61CB67-34FD-49C5-FB06-697CBC81D71D}"/>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6" name="Footer Placeholder 5">
            <a:extLst>
              <a:ext uri="{FF2B5EF4-FFF2-40B4-BE49-F238E27FC236}">
                <a16:creationId xmlns:a16="http://schemas.microsoft.com/office/drawing/2014/main" id="{DD8D6E45-B7CA-8F4E-5303-33495A0286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FD92B3-20FD-7F2E-D35C-17AA901EF6D0}"/>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3764045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8BFB2-40F8-14C4-1593-7A2BB7A070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23DC71-7C9E-2815-A1B5-6A7533ABE8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6FCA54-A6F4-1123-899F-DB236212A1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84D1F5-FAF1-2C23-9FAA-C29B9A7BED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E74F3D-F4C7-A9DB-C690-924B696418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B467FF-EC79-E0D2-ABC4-1E8FB79E17D1}"/>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8" name="Footer Placeholder 7">
            <a:extLst>
              <a:ext uri="{FF2B5EF4-FFF2-40B4-BE49-F238E27FC236}">
                <a16:creationId xmlns:a16="http://schemas.microsoft.com/office/drawing/2014/main" id="{113C6379-B949-2835-6D94-FCA2A65F8C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038DCB-8E1C-4885-F698-59ED2E4B40CD}"/>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3836614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7629-3FC3-C08E-A21A-05FFBC693B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8941B0-7B64-3D8C-BD39-EF5BFF747826}"/>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4" name="Footer Placeholder 3">
            <a:extLst>
              <a:ext uri="{FF2B5EF4-FFF2-40B4-BE49-F238E27FC236}">
                <a16:creationId xmlns:a16="http://schemas.microsoft.com/office/drawing/2014/main" id="{89D94519-8BF8-C2B1-29C6-1ED93AA9A4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C95A29-B2A8-9BDF-0998-3F7E2E1B84E8}"/>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671714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C4E8F7-4B80-9123-CBD0-D0F26A23E70C}"/>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3" name="Footer Placeholder 2">
            <a:extLst>
              <a:ext uri="{FF2B5EF4-FFF2-40B4-BE49-F238E27FC236}">
                <a16:creationId xmlns:a16="http://schemas.microsoft.com/office/drawing/2014/main" id="{D9279CE9-774D-C78F-61D4-CA0F79BE46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109CC0-2040-2354-AB87-438CABA5DF59}"/>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1433228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8108E-B25D-333D-B348-D1A588B38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B534DB-1106-B076-0822-10FCA7190B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5A905D-61B7-3CF5-F7AD-162CF40D76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43BA13-22A1-329F-CB9B-C3F4DF738758}"/>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6" name="Footer Placeholder 5">
            <a:extLst>
              <a:ext uri="{FF2B5EF4-FFF2-40B4-BE49-F238E27FC236}">
                <a16:creationId xmlns:a16="http://schemas.microsoft.com/office/drawing/2014/main" id="{43B3E24C-B2A3-C187-D53D-2B5BF77F76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1EDD39-28F8-D775-6AD9-DCD0EC99E88F}"/>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1288289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5DC21-040E-7ABF-076F-F6F6CE758D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664761-9DE1-6176-78A0-36E5589ADD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2DE24B-6F60-CC03-78F8-D25D59139E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C54567-41CA-7E48-B3A6-6B7FB470B0C1}"/>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6" name="Footer Placeholder 5">
            <a:extLst>
              <a:ext uri="{FF2B5EF4-FFF2-40B4-BE49-F238E27FC236}">
                <a16:creationId xmlns:a16="http://schemas.microsoft.com/office/drawing/2014/main" id="{3BF43568-A3BB-0B6B-9097-ADD1289754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EAAF0E-0B7F-DEBC-9ABD-149086704A08}"/>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1060745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84B80-7979-369D-091C-8610702BD3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53494D-D2C8-7AA0-9B60-6E3B43AFD9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367AFA-B26F-ED0E-8651-00CA20053D52}"/>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5" name="Footer Placeholder 4">
            <a:extLst>
              <a:ext uri="{FF2B5EF4-FFF2-40B4-BE49-F238E27FC236}">
                <a16:creationId xmlns:a16="http://schemas.microsoft.com/office/drawing/2014/main" id="{D016F1DE-8AE5-A987-150B-73201755F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0F440-C87D-13B2-52BE-BA6BB72BFDE8}"/>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117693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E7352F-5059-1CF0-9BFE-F300426907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680D4D-0970-937F-12F7-DFBD8E7EC7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42FB06-6D5E-23E5-02F2-1E1F1F022772}"/>
              </a:ext>
            </a:extLst>
          </p:cNvPr>
          <p:cNvSpPr>
            <a:spLocks noGrp="1"/>
          </p:cNvSpPr>
          <p:nvPr>
            <p:ph type="dt" sz="half" idx="10"/>
          </p:nvPr>
        </p:nvSpPr>
        <p:spPr/>
        <p:txBody>
          <a:bodyPr/>
          <a:lstStyle/>
          <a:p>
            <a:fld id="{7F4DF181-6867-433B-8B20-BE4B2E816B2B}" type="datetimeFigureOut">
              <a:rPr lang="en-US" smtClean="0"/>
              <a:t>4/27/2025</a:t>
            </a:fld>
            <a:endParaRPr lang="en-US"/>
          </a:p>
        </p:txBody>
      </p:sp>
      <p:sp>
        <p:nvSpPr>
          <p:cNvPr id="5" name="Footer Placeholder 4">
            <a:extLst>
              <a:ext uri="{FF2B5EF4-FFF2-40B4-BE49-F238E27FC236}">
                <a16:creationId xmlns:a16="http://schemas.microsoft.com/office/drawing/2014/main" id="{31B7E183-1844-BA81-4A8B-36A0DAE8A8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A78E30-7264-CAE9-F3B1-E07942C9CAA1}"/>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3446441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6A505-D114-8953-A9B5-A7D258EEC5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6461A7-28F6-5CA0-BBEE-B7329175F3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FC131-4D72-2780-80C6-E176B50ACC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4DF181-6867-433B-8B20-BE4B2E816B2B}" type="datetimeFigureOut">
              <a:rPr lang="en-US" smtClean="0"/>
              <a:t>4/27/2025</a:t>
            </a:fld>
            <a:endParaRPr lang="en-US"/>
          </a:p>
        </p:txBody>
      </p:sp>
      <p:sp>
        <p:nvSpPr>
          <p:cNvPr id="5" name="Footer Placeholder 4">
            <a:extLst>
              <a:ext uri="{FF2B5EF4-FFF2-40B4-BE49-F238E27FC236}">
                <a16:creationId xmlns:a16="http://schemas.microsoft.com/office/drawing/2014/main" id="{1AEFE687-8091-9646-5522-D1BE17E84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9C01763-44B1-3B30-5EC8-19540BFCDA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A35E59-5C6C-4619-B1A5-4200ECA8D3A1}" type="slidenum">
              <a:rPr lang="en-US" smtClean="0"/>
              <a:t>‹#›</a:t>
            </a:fld>
            <a:endParaRPr lang="en-US"/>
          </a:p>
        </p:txBody>
      </p:sp>
    </p:spTree>
    <p:extLst>
      <p:ext uri="{BB962C8B-B14F-4D97-AF65-F5344CB8AC3E}">
        <p14:creationId xmlns:p14="http://schemas.microsoft.com/office/powerpoint/2010/main" val="3003491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hyperlink" Target="http://www.zeno.org/Literatur/M/Grimm,+Jacob+und+Wilhelm/M%C3%A4rchen/Kinder-+und+Hausm%C3%A4rchen+(1812-15)/Erster+Band/1.+Der+Froschk%C3%B6nig+oder+der+eiserne+Heinrich" TargetMode="External"/><Relationship Id="rId2" Type="http://schemas.openxmlformats.org/officeDocument/2006/relationships/hyperlink" Target="http://www.zeno.org/Literatur/L/Grimm-KHM+Bd.+1"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DE22-5A00-70A3-8701-E3B56827BCE3}"/>
              </a:ext>
            </a:extLst>
          </p:cNvPr>
          <p:cNvSpPr>
            <a:spLocks noGrp="1"/>
          </p:cNvSpPr>
          <p:nvPr>
            <p:ph type="ctrTitle"/>
          </p:nvPr>
        </p:nvSpPr>
        <p:spPr/>
        <p:txBody>
          <a:bodyPr/>
          <a:lstStyle/>
          <a:p>
            <a:r>
              <a:rPr lang="en-US" dirty="0"/>
              <a:t>Grimm00</a:t>
            </a:r>
          </a:p>
        </p:txBody>
      </p:sp>
      <p:sp>
        <p:nvSpPr>
          <p:cNvPr id="3" name="Subtitle 2">
            <a:extLst>
              <a:ext uri="{FF2B5EF4-FFF2-40B4-BE49-F238E27FC236}">
                <a16:creationId xmlns:a16="http://schemas.microsoft.com/office/drawing/2014/main" id="{D45CF3FF-7776-5C99-B3A0-832CDAC278DD}"/>
              </a:ext>
            </a:extLst>
          </p:cNvPr>
          <p:cNvSpPr>
            <a:spLocks noGrp="1"/>
          </p:cNvSpPr>
          <p:nvPr>
            <p:ph type="subTitle" idx="1"/>
          </p:nvPr>
        </p:nvSpPr>
        <p:spPr/>
        <p:txBody>
          <a:bodyPr/>
          <a:lstStyle/>
          <a:p>
            <a:r>
              <a:rPr lang="en-US" dirty="0"/>
              <a:t>The Frog King, or Iron Heinrich</a:t>
            </a:r>
          </a:p>
        </p:txBody>
      </p:sp>
    </p:spTree>
    <p:extLst>
      <p:ext uri="{BB962C8B-B14F-4D97-AF65-F5344CB8AC3E}">
        <p14:creationId xmlns:p14="http://schemas.microsoft.com/office/powerpoint/2010/main" val="1023774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5523AC-1C93-6563-6885-3C902F89A226}"/>
              </a:ext>
            </a:extLst>
          </p:cNvPr>
          <p:cNvPicPr>
            <a:picLocks noChangeAspect="1"/>
          </p:cNvPicPr>
          <p:nvPr/>
        </p:nvPicPr>
        <p:blipFill>
          <a:blip r:embed="rId2"/>
          <a:stretch>
            <a:fillRect/>
          </a:stretch>
        </p:blipFill>
        <p:spPr>
          <a:xfrm>
            <a:off x="132816" y="133243"/>
            <a:ext cx="4903641" cy="6505032"/>
          </a:xfrm>
          <a:prstGeom prst="rect">
            <a:avLst/>
          </a:prstGeom>
        </p:spPr>
      </p:pic>
    </p:spTree>
    <p:extLst>
      <p:ext uri="{BB962C8B-B14F-4D97-AF65-F5344CB8AC3E}">
        <p14:creationId xmlns:p14="http://schemas.microsoft.com/office/powerpoint/2010/main" val="3426717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0CE2F-5D1F-EDC6-EEA9-3479F7473E9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8465B91-C30F-7870-1731-6BD868143F50}"/>
              </a:ext>
            </a:extLst>
          </p:cNvPr>
          <p:cNvPicPr>
            <a:picLocks noChangeAspect="1"/>
          </p:cNvPicPr>
          <p:nvPr/>
        </p:nvPicPr>
        <p:blipFill>
          <a:blip r:embed="rId2"/>
          <a:stretch>
            <a:fillRect/>
          </a:stretch>
        </p:blipFill>
        <p:spPr>
          <a:xfrm>
            <a:off x="2162503" y="116115"/>
            <a:ext cx="3832226" cy="6763879"/>
          </a:xfrm>
          <a:prstGeom prst="rect">
            <a:avLst/>
          </a:prstGeom>
        </p:spPr>
      </p:pic>
      <p:pic>
        <p:nvPicPr>
          <p:cNvPr id="5" name="Picture 4">
            <a:extLst>
              <a:ext uri="{FF2B5EF4-FFF2-40B4-BE49-F238E27FC236}">
                <a16:creationId xmlns:a16="http://schemas.microsoft.com/office/drawing/2014/main" id="{223D7778-F3DC-4BA2-8AF5-3CE12F1A9188}"/>
              </a:ext>
            </a:extLst>
          </p:cNvPr>
          <p:cNvPicPr>
            <a:picLocks noChangeAspect="1"/>
          </p:cNvPicPr>
          <p:nvPr/>
        </p:nvPicPr>
        <p:blipFill>
          <a:blip r:embed="rId3"/>
          <a:stretch>
            <a:fillRect/>
          </a:stretch>
        </p:blipFill>
        <p:spPr>
          <a:xfrm>
            <a:off x="6095999" y="116115"/>
            <a:ext cx="3933497" cy="6747383"/>
          </a:xfrm>
          <a:prstGeom prst="rect">
            <a:avLst/>
          </a:prstGeom>
        </p:spPr>
      </p:pic>
    </p:spTree>
    <p:extLst>
      <p:ext uri="{BB962C8B-B14F-4D97-AF65-F5344CB8AC3E}">
        <p14:creationId xmlns:p14="http://schemas.microsoft.com/office/powerpoint/2010/main" val="3126993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9A2771-1F8A-ED63-7C6D-2B30888FF77C}"/>
              </a:ext>
            </a:extLst>
          </p:cNvPr>
          <p:cNvPicPr>
            <a:picLocks noChangeAspect="1"/>
          </p:cNvPicPr>
          <p:nvPr/>
        </p:nvPicPr>
        <p:blipFill>
          <a:blip r:embed="rId2"/>
          <a:stretch>
            <a:fillRect/>
          </a:stretch>
        </p:blipFill>
        <p:spPr>
          <a:xfrm>
            <a:off x="2052084" y="0"/>
            <a:ext cx="3876355" cy="6819690"/>
          </a:xfrm>
          <a:prstGeom prst="rect">
            <a:avLst/>
          </a:prstGeom>
        </p:spPr>
      </p:pic>
      <p:pic>
        <p:nvPicPr>
          <p:cNvPr id="9" name="Picture 8">
            <a:extLst>
              <a:ext uri="{FF2B5EF4-FFF2-40B4-BE49-F238E27FC236}">
                <a16:creationId xmlns:a16="http://schemas.microsoft.com/office/drawing/2014/main" id="{989ADB55-8A04-06BA-21C9-114EE48BE412}"/>
              </a:ext>
            </a:extLst>
          </p:cNvPr>
          <p:cNvPicPr>
            <a:picLocks noChangeAspect="1"/>
          </p:cNvPicPr>
          <p:nvPr/>
        </p:nvPicPr>
        <p:blipFill>
          <a:blip r:embed="rId3"/>
          <a:stretch>
            <a:fillRect/>
          </a:stretch>
        </p:blipFill>
        <p:spPr>
          <a:xfrm>
            <a:off x="6096000" y="0"/>
            <a:ext cx="5427162" cy="6698512"/>
          </a:xfrm>
          <a:prstGeom prst="rect">
            <a:avLst/>
          </a:prstGeom>
        </p:spPr>
      </p:pic>
    </p:spTree>
    <p:extLst>
      <p:ext uri="{BB962C8B-B14F-4D97-AF65-F5344CB8AC3E}">
        <p14:creationId xmlns:p14="http://schemas.microsoft.com/office/powerpoint/2010/main" val="2979882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27F73A8-C03A-A5EB-1A64-BFB9C6CFC3AD}"/>
              </a:ext>
            </a:extLst>
          </p:cNvPr>
          <p:cNvGraphicFramePr>
            <a:graphicFrameLocks noGrp="1"/>
          </p:cNvGraphicFramePr>
          <p:nvPr>
            <p:extLst>
              <p:ext uri="{D42A27DB-BD31-4B8C-83A1-F6EECF244321}">
                <p14:modId xmlns:p14="http://schemas.microsoft.com/office/powerpoint/2010/main" val="1368907379"/>
              </p:ext>
            </p:extLst>
          </p:nvPr>
        </p:nvGraphicFramePr>
        <p:xfrm>
          <a:off x="9545052" y="143942"/>
          <a:ext cx="2464429" cy="1186180"/>
        </p:xfrm>
        <a:graphic>
          <a:graphicData uri="http://schemas.openxmlformats.org/drawingml/2006/table">
            <a:tbl>
              <a:tblPr/>
              <a:tblGrid>
                <a:gridCol w="2464429">
                  <a:extLst>
                    <a:ext uri="{9D8B030D-6E8A-4147-A177-3AD203B41FA5}">
                      <a16:colId xmlns:a16="http://schemas.microsoft.com/office/drawing/2014/main" val="78105696"/>
                    </a:ext>
                  </a:extLst>
                </a:gridCol>
              </a:tblGrid>
              <a:tr h="0">
                <a:tc>
                  <a:txBody>
                    <a:bodyPr/>
                    <a:lstStyle/>
                    <a:p>
                      <a:r>
                        <a:rPr lang="en-US" sz="1200" dirty="0"/>
                        <a:t>Youngest daughter of the king,</a:t>
                      </a:r>
                      <a:br>
                        <a:rPr lang="en-US" sz="1200" dirty="0"/>
                      </a:br>
                      <a:r>
                        <a:rPr lang="en-US" sz="1200" dirty="0"/>
                        <a:t>Open up the door for me,</a:t>
                      </a:r>
                      <a:br>
                        <a:rPr lang="en-US" sz="1200" dirty="0"/>
                      </a:br>
                      <a:r>
                        <a:rPr lang="en-US" sz="1200" dirty="0"/>
                        <a:t>Don't you know what yesterday,</a:t>
                      </a:r>
                      <a:br>
                        <a:rPr lang="en-US" sz="1200" dirty="0"/>
                      </a:br>
                      <a:r>
                        <a:rPr lang="en-US" sz="1200" dirty="0"/>
                        <a:t>You said to me down by the well?</a:t>
                      </a:r>
                      <a:br>
                        <a:rPr lang="en-US" sz="1200" dirty="0"/>
                      </a:br>
                      <a:r>
                        <a:rPr lang="en-US" sz="1200" dirty="0"/>
                        <a:t>Youngest daughter of the king,</a:t>
                      </a:r>
                      <a:br>
                        <a:rPr lang="en-US" sz="1200" dirty="0"/>
                      </a:br>
                      <a:r>
                        <a:rPr lang="en-US" sz="1200" dirty="0"/>
                        <a:t>Open up the door for me</a:t>
                      </a:r>
                      <a:r>
                        <a:rPr lang="en-US" sz="1100" dirty="0"/>
                        <a:t>.</a:t>
                      </a:r>
                    </a:p>
                  </a:txBody>
                  <a:tcPr marL="44450" marR="44450" marT="44450" marB="44450">
                    <a:lnL>
                      <a:noFill/>
                    </a:lnL>
                    <a:lnR>
                      <a:noFill/>
                    </a:lnR>
                    <a:lnT>
                      <a:noFill/>
                    </a:lnT>
                    <a:lnB>
                      <a:noFill/>
                    </a:lnB>
                    <a:noFill/>
                  </a:tcPr>
                </a:tc>
                <a:extLst>
                  <a:ext uri="{0D108BD9-81ED-4DB2-BD59-A6C34878D82A}">
                    <a16:rowId xmlns:a16="http://schemas.microsoft.com/office/drawing/2014/main" val="3615277289"/>
                  </a:ext>
                </a:extLst>
              </a:tr>
            </a:tbl>
          </a:graphicData>
        </a:graphic>
      </p:graphicFrame>
      <p:graphicFrame>
        <p:nvGraphicFramePr>
          <p:cNvPr id="3" name="Table 2">
            <a:extLst>
              <a:ext uri="{FF2B5EF4-FFF2-40B4-BE49-F238E27FC236}">
                <a16:creationId xmlns:a16="http://schemas.microsoft.com/office/drawing/2014/main" id="{55FF2D76-17A7-D585-2080-53CB93BFCE83}"/>
              </a:ext>
            </a:extLst>
          </p:cNvPr>
          <p:cNvGraphicFramePr>
            <a:graphicFrameLocks noGrp="1"/>
          </p:cNvGraphicFramePr>
          <p:nvPr>
            <p:extLst>
              <p:ext uri="{D42A27DB-BD31-4B8C-83A1-F6EECF244321}">
                <p14:modId xmlns:p14="http://schemas.microsoft.com/office/powerpoint/2010/main" val="397492760"/>
              </p:ext>
            </p:extLst>
          </p:nvPr>
        </p:nvGraphicFramePr>
        <p:xfrm>
          <a:off x="9545052" y="5147425"/>
          <a:ext cx="2646947" cy="1369060"/>
        </p:xfrm>
        <a:graphic>
          <a:graphicData uri="http://schemas.openxmlformats.org/drawingml/2006/table">
            <a:tbl>
              <a:tblPr/>
              <a:tblGrid>
                <a:gridCol w="2646947">
                  <a:extLst>
                    <a:ext uri="{9D8B030D-6E8A-4147-A177-3AD203B41FA5}">
                      <a16:colId xmlns:a16="http://schemas.microsoft.com/office/drawing/2014/main" val="4054270835"/>
                    </a:ext>
                  </a:extLst>
                </a:gridCol>
              </a:tblGrid>
              <a:tr h="0">
                <a:tc>
                  <a:txBody>
                    <a:bodyPr/>
                    <a:lstStyle/>
                    <a:p>
                      <a:r>
                        <a:rPr lang="en-US" sz="1400" dirty="0"/>
                        <a:t>No, my lord, the carriage it's not,</a:t>
                      </a:r>
                      <a:br>
                        <a:rPr lang="en-US" sz="1400" dirty="0"/>
                      </a:br>
                      <a:r>
                        <a:rPr lang="en-US" sz="1400" dirty="0"/>
                        <a:t>But one of the bands surrounding my heart,</a:t>
                      </a:r>
                      <a:br>
                        <a:rPr lang="en-US" sz="1400" dirty="0"/>
                      </a:br>
                      <a:r>
                        <a:rPr lang="en-US" sz="1400" dirty="0"/>
                        <a:t>That suffered such great pain,</a:t>
                      </a:r>
                      <a:br>
                        <a:rPr lang="en-US" sz="1400" dirty="0"/>
                      </a:br>
                      <a:r>
                        <a:rPr lang="en-US" sz="1400" dirty="0"/>
                        <a:t>When you were sitting in the well,</a:t>
                      </a:r>
                      <a:br>
                        <a:rPr lang="en-US" sz="1400" dirty="0"/>
                      </a:br>
                      <a:r>
                        <a:rPr lang="en-US" sz="1400" dirty="0"/>
                        <a:t>When you were a frog.</a:t>
                      </a:r>
                    </a:p>
                  </a:txBody>
                  <a:tcPr marL="44450" marR="44450" marT="44450" marB="44450">
                    <a:lnL>
                      <a:noFill/>
                    </a:lnL>
                    <a:lnR>
                      <a:noFill/>
                    </a:lnR>
                    <a:lnT>
                      <a:noFill/>
                    </a:lnT>
                    <a:lnB>
                      <a:noFill/>
                    </a:lnB>
                    <a:noFill/>
                  </a:tcPr>
                </a:tc>
                <a:extLst>
                  <a:ext uri="{0D108BD9-81ED-4DB2-BD59-A6C34878D82A}">
                    <a16:rowId xmlns:a16="http://schemas.microsoft.com/office/drawing/2014/main" val="3701902816"/>
                  </a:ext>
                </a:extLst>
              </a:tr>
            </a:tbl>
          </a:graphicData>
        </a:graphic>
      </p:graphicFrame>
      <p:sp>
        <p:nvSpPr>
          <p:cNvPr id="4" name="Rectangle 1">
            <a:extLst>
              <a:ext uri="{FF2B5EF4-FFF2-40B4-BE49-F238E27FC236}">
                <a16:creationId xmlns:a16="http://schemas.microsoft.com/office/drawing/2014/main" id="{CF2CDE84-ED68-1BCF-1775-7C027E81CF87}"/>
              </a:ext>
            </a:extLst>
          </p:cNvPr>
          <p:cNvSpPr>
            <a:spLocks noChangeArrowheads="1"/>
          </p:cNvSpPr>
          <p:nvPr/>
        </p:nvSpPr>
        <p:spPr bwMode="auto">
          <a:xfrm>
            <a:off x="182520" y="133766"/>
            <a:ext cx="9089818"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 olden times, when wishing still did some good, there lived a king whose daughters were all beautiful, but the youngest was so beautiful that the sun itself, who, indeed, has seen so much, marveled every time it shone upon her face. In the vicinity of the king's castle there was a large, dark forest, and in this forest, beneath an old linden tree, there was a well. In the heat of the day the princess would go out into the forest and sit on the edge of the cool well. To pass the time she would take a golden ball, throw it into the air, and then catch it. It was her favorite plaything.</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Now one day it happened that the princess's golden ball did not fall into her hands, that she held up high, but instead it fell to the ground and rolled right into the water. The princess followed it with her eyes, but the ball disappeared, and the well was so deep that she could not see its bottom. Then she began to cry. She cried louder and louder, and she could not console herself.</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As she was thus lamenting, someone called out to her, "What is the matter with you, princess? Your crying would turn a stone to pity."</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She looked around to see where the voice was coming from and saw a frog, who had stuck his thick, ugly head out of the water. "Oh, it's you, old water-splasher," she said. "I am crying because my golden ball has fallen into the well."</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"Be still and stop crying," answered the frog. I can help you, but what will you give me if I bring back your plaything?"</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"Whatever you want, dear frog," she said, "my clothes, my pearls and precious stones, and even the golden crown that I am wearing."</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frog answered, "I do not want your clothes, your pearls and precious stones, nor your golden crown, but if you will love me and accept me as a companion and playmate, and let me sit next to you at your table and eat from your golden plate and drink from your cup and sleep in your bed, if you will promise this to me, then I'll dive down and bring your golden ball back to you."</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"Oh, yes," she said, "I promise all of that to you if you will just bring the ball back to me." But she thought, "What is this stupid frog trying to say? He just sits here in the water with his own kind and croaks. He cannot be a companion to a human."</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As soon as the frog heard her say "yes" he stuck his head under and dove to the bottom. He paddled back up a short time later with the golden ball in his mouth and threw it onto the grass. The princess was filled with joy when she saw her beautiful plaything once again, picked it up, and ran off.</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"Wait, wait," called the frog, "take me along. I cannot run as fast as you." But what did it help him, that he croaked out after her as loudly as he could? She paid no attention to him, but instead hurried home and soon forgot the poor frog, who had to return again to his well.</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next day the princess was sitting at the table with the king and all the people of the court, and was eating from her golden plate when something came creeping up the marble steps: plip, plop, plip, plop. As soon as it reached the top, there came a knock at the door, and a voice called out, "Princess, youngest, open the door for me!"</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She ran to see who was outside. She opened the door, and the frog was sitting there. Frightened, she slammed the door shut and returned to the table. The king saw that her heart was pounding and asked, "My child, why are you afraid? Is there a giant outside the door who wants to get you?"</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"Oh, no," she answered. "it is a disgusting frog."</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"What does the frog want from you?"</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"Oh, father dear, yesterday when I was sitting near the well in the forest and playing, my golden ball fell into the water. And because I was crying so much, the frog brought it back, and because he insisted, I promised him that he could be my companion, but I didn't think that he could leave his water. But now he is just outside the door and wants to come in."</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Just then there came a second knock at the door, and a voice called out: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king said, "What you have promised, you must keep. Go and let the frog in."</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She went and opened the door, and the frog hopped in, then followed her up to her chair. He sat there and called out, "Lift me up next to you."</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She hesitated, until finally the king commanded her to do it. When the frog was seated next to her he said, "Now push your golden plate closer, so we can eat together."</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She did it, but one could see that she did not want to. The frog enjoyed his meal, but for her every bite stuck in her throat. Finally he said, "I have eaten all I want and am tired. Now carry me to your room and make your bed so that we can go to sleep."</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princess began to cry and was afraid of the cold frog and did not dare to even touch him, and yet he was supposed to sleep in her beautiful, clean bed.</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king became angry and said, "You should not despise someone who has helped you in time of need."</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She picked him up with two fingers, carried him upstairs, and set him in a corner. As she was lying in bed, he came creeping up to her and said, "I am tired, and I want to sleep as well as you do. Pick me up or I'll tell your father."</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With that she became bitterly angry and threw him against the wall with all her might. "Now you will have your peace, you disgusting frog!"</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But when he fell down, he was not a frog, but a prince with beautiful friendly eyes. And he was now, according to her father's will, her dear companion and husband. He told her how he had been enchanted by a wicked witch, and that she alone could have rescued him from the well, and that tomorrow they would go together to his kingdom. Then they fell asleep.</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next morning, just as the sun was waking them, a carriage pulled up, drawn by eight horses. They had white ostrich feathers on their heads and were outfitted with chains of gold. At the rear stood the young king's servant, faithful Heinrich. Faithful Heinrich had been so saddened by his master's transformation into a frog that he had had to place three iron bands around his heart to keep it from bursting in grief and sorrow. The carriage was to take the king back to his kingdom. Faithful Heinrich lifted them both inside and took his place at the rear. He was filled with joy over the redemption. After they had gone a short distance, the prince heard a crack from behind, as though something had broken.</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He turned around and said, "Heinrich, the carriage is breaking apart."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Once again, and then once again the prince heard a cracking sound and thought that the carriage was breaking apart, but it was the bands springing from faithful Heinrich's heart because his master was now redeemed and happy.</a:t>
            </a: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4503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A6F3ED-627B-D8AF-1B7E-E2D9FFE04E23}"/>
              </a:ext>
            </a:extLst>
          </p:cNvPr>
          <p:cNvPicPr>
            <a:picLocks noChangeAspect="1"/>
          </p:cNvPicPr>
          <p:nvPr/>
        </p:nvPicPr>
        <p:blipFill>
          <a:blip r:embed="rId2"/>
          <a:stretch>
            <a:fillRect/>
          </a:stretch>
        </p:blipFill>
        <p:spPr>
          <a:xfrm>
            <a:off x="0" y="0"/>
            <a:ext cx="5623964" cy="6858000"/>
          </a:xfrm>
          <a:prstGeom prst="rect">
            <a:avLst/>
          </a:prstGeom>
        </p:spPr>
      </p:pic>
      <p:pic>
        <p:nvPicPr>
          <p:cNvPr id="5" name="Picture 4">
            <a:extLst>
              <a:ext uri="{FF2B5EF4-FFF2-40B4-BE49-F238E27FC236}">
                <a16:creationId xmlns:a16="http://schemas.microsoft.com/office/drawing/2014/main" id="{9BFFCB8D-DE8D-0843-4355-E89BA0BF4808}"/>
              </a:ext>
            </a:extLst>
          </p:cNvPr>
          <p:cNvPicPr>
            <a:picLocks noChangeAspect="1"/>
          </p:cNvPicPr>
          <p:nvPr/>
        </p:nvPicPr>
        <p:blipFill>
          <a:blip r:embed="rId3"/>
          <a:stretch>
            <a:fillRect/>
          </a:stretch>
        </p:blipFill>
        <p:spPr>
          <a:xfrm>
            <a:off x="6082485" y="0"/>
            <a:ext cx="4560706" cy="6778910"/>
          </a:xfrm>
          <a:prstGeom prst="rect">
            <a:avLst/>
          </a:prstGeom>
        </p:spPr>
      </p:pic>
    </p:spTree>
    <p:extLst>
      <p:ext uri="{BB962C8B-B14F-4D97-AF65-F5344CB8AC3E}">
        <p14:creationId xmlns:p14="http://schemas.microsoft.com/office/powerpoint/2010/main" val="2522793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3200A8-EE4B-8F4E-8F9E-5ADE208B57F4}"/>
              </a:ext>
            </a:extLst>
          </p:cNvPr>
          <p:cNvPicPr>
            <a:picLocks noChangeAspect="1"/>
          </p:cNvPicPr>
          <p:nvPr/>
        </p:nvPicPr>
        <p:blipFill>
          <a:blip r:embed="rId2"/>
          <a:stretch>
            <a:fillRect/>
          </a:stretch>
        </p:blipFill>
        <p:spPr>
          <a:xfrm>
            <a:off x="0" y="72376"/>
            <a:ext cx="4720856" cy="6785624"/>
          </a:xfrm>
          <a:prstGeom prst="rect">
            <a:avLst/>
          </a:prstGeom>
        </p:spPr>
      </p:pic>
      <p:pic>
        <p:nvPicPr>
          <p:cNvPr id="5" name="Picture 4">
            <a:extLst>
              <a:ext uri="{FF2B5EF4-FFF2-40B4-BE49-F238E27FC236}">
                <a16:creationId xmlns:a16="http://schemas.microsoft.com/office/drawing/2014/main" id="{0CD4D9A9-605F-41B8-76C7-01CC028470E0}"/>
              </a:ext>
            </a:extLst>
          </p:cNvPr>
          <p:cNvPicPr>
            <a:picLocks noChangeAspect="1"/>
          </p:cNvPicPr>
          <p:nvPr/>
        </p:nvPicPr>
        <p:blipFill>
          <a:blip r:embed="rId3"/>
          <a:stretch>
            <a:fillRect/>
          </a:stretch>
        </p:blipFill>
        <p:spPr>
          <a:xfrm>
            <a:off x="4508205" y="72376"/>
            <a:ext cx="4279042" cy="6198781"/>
          </a:xfrm>
          <a:prstGeom prst="rect">
            <a:avLst/>
          </a:prstGeom>
        </p:spPr>
      </p:pic>
      <p:pic>
        <p:nvPicPr>
          <p:cNvPr id="7" name="Picture 6">
            <a:extLst>
              <a:ext uri="{FF2B5EF4-FFF2-40B4-BE49-F238E27FC236}">
                <a16:creationId xmlns:a16="http://schemas.microsoft.com/office/drawing/2014/main" id="{FDF6337E-405E-82B7-2773-ED0717930BD2}"/>
              </a:ext>
            </a:extLst>
          </p:cNvPr>
          <p:cNvPicPr>
            <a:picLocks noChangeAspect="1"/>
          </p:cNvPicPr>
          <p:nvPr/>
        </p:nvPicPr>
        <p:blipFill>
          <a:blip r:embed="rId4"/>
          <a:stretch>
            <a:fillRect/>
          </a:stretch>
        </p:blipFill>
        <p:spPr>
          <a:xfrm>
            <a:off x="8787247" y="4918164"/>
            <a:ext cx="3319147" cy="1867460"/>
          </a:xfrm>
          <a:prstGeom prst="rect">
            <a:avLst/>
          </a:prstGeom>
        </p:spPr>
      </p:pic>
    </p:spTree>
    <p:extLst>
      <p:ext uri="{BB962C8B-B14F-4D97-AF65-F5344CB8AC3E}">
        <p14:creationId xmlns:p14="http://schemas.microsoft.com/office/powerpoint/2010/main" val="507081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B0B116-5FCC-AEC9-E27D-177936B75095}"/>
              </a:ext>
            </a:extLst>
          </p:cNvPr>
          <p:cNvSpPr txBox="1"/>
          <p:nvPr/>
        </p:nvSpPr>
        <p:spPr>
          <a:xfrm>
            <a:off x="557906" y="533192"/>
            <a:ext cx="11076187" cy="6324808"/>
          </a:xfrm>
          <a:prstGeom prst="rect">
            <a:avLst/>
          </a:prstGeom>
          <a:noFill/>
        </p:spPr>
        <p:txBody>
          <a:bodyPr wrap="square">
            <a:spAutoFit/>
          </a:bodyPr>
          <a:lstStyle/>
          <a:p>
            <a:pPr algn="l">
              <a:buNone/>
            </a:pPr>
            <a:r>
              <a:rPr lang="de-DE" sz="900" b="1" i="0" dirty="0">
                <a:solidFill>
                  <a:srgbClr val="000000"/>
                </a:solidFill>
                <a:effectLst/>
                <a:latin typeface="arial" panose="020B0604020202020204" pitchFamily="34" charset="0"/>
              </a:rPr>
              <a:t>Der Froschkönig oder der eiserne Heinrich.</a:t>
            </a:r>
          </a:p>
          <a:p>
            <a:pPr algn="l">
              <a:buNone/>
            </a:pPr>
            <a:r>
              <a:rPr lang="de-DE" sz="900" b="0" i="0" dirty="0">
                <a:solidFill>
                  <a:srgbClr val="000000"/>
                </a:solidFill>
                <a:effectLst/>
                <a:latin typeface="arial" panose="020B0604020202020204" pitchFamily="34" charset="0"/>
              </a:rPr>
              <a:t>Es war einmal eine Königstochter, die ging hinaus in den Wald und setzte an einen kühlen Brunnen. Sie hatte eine goldene Kugel, die war ihr liebstes Spielwerk, die warf sie in die Höhe und fing sie wieder in der Luft und hatte ihre Lust daran. Einmal war die Kugel gar hoch geflogen, sie hatte die Hand schon ausgestreckt und die Finger gekrümmt, um sie wieder zufangen, da schlug sie neben vorbei auf die Erde, rollte und rollte und geradezu in das Wasser hinein.</a:t>
            </a:r>
          </a:p>
          <a:p>
            <a:pPr algn="l">
              <a:buNone/>
            </a:pPr>
            <a:r>
              <a:rPr lang="de-DE" sz="900" b="0" i="0" dirty="0">
                <a:solidFill>
                  <a:srgbClr val="000000"/>
                </a:solidFill>
                <a:effectLst/>
                <a:latin typeface="arial" panose="020B0604020202020204" pitchFamily="34" charset="0"/>
              </a:rPr>
              <a:t>Die Königstochter blickte ihr erschrocken nach, der Brunnen war aber so tief, daß kein Grund zu sehen war. Da fing sie an jämmerlich zu weinen und zu klagen: »ach! wenn ich meine Kugel wieder hätte, da wollt' ich alles darum geben, meine Kleider, meine Edelgesteine, meine Perlen und was es auf der Welt nur wär'.« Wie sie so klagte, steckte ein Frosch</a:t>
            </a:r>
            <a:r>
              <a:rPr lang="de-DE" sz="900" b="0" i="0" u="none" strike="noStrike" dirty="0">
                <a:solidFill>
                  <a:srgbClr val="1446C6"/>
                </a:solidFill>
                <a:effectLst/>
                <a:latin typeface="arial" panose="020B0604020202020204" pitchFamily="34" charset="0"/>
                <a:hlinkClick r:id="rId2" tooltip="Vorlage"/>
              </a:rPr>
              <a:t>[1]</a:t>
            </a:r>
            <a:r>
              <a:rPr lang="de-DE" sz="900" b="0" i="0" dirty="0">
                <a:solidFill>
                  <a:srgbClr val="000000"/>
                </a:solidFill>
                <a:effectLst/>
                <a:latin typeface="arial" panose="020B0604020202020204" pitchFamily="34" charset="0"/>
              </a:rPr>
              <a:t> seinen Kopf aus dem Wasser und sprach: »Königstochter, was jammerst du so erbärmlich?« – »Ach, sagte sie, du garstiger Frosch, was kannst du mir helfen! meine goldne Kugel ist mir in den Brunnen gefallen.« – Der Frosch sprach: »deine Perlen, deine Edelgesteine und deine Kleider, die verlang ich nicht, aber wenn du mich zum Gesellen annehmen willst, und ich soll neben dir sitzen und von deinem goldnen Tellerlein essen und in deinem Bettlein schlafen und du willst mich werth und lieb haben, so will ich dir deine Kugel wiederbringen.« Die Königstochter dachte, was schwätzt der einfältige Frosch wohl, der muß doch in seinem Wasser bleiben, vielleicht aber kann er mir meine Kugel holen, da will ich nur ja sagen; und sagte: »ja meinetwegen, schaff mir nur erst die goldne Kugel wieder, es soll dir alles versprochen seyn.« Der Frosch steckte seinen Kopf unter das Wasser und tauchte hinab, es dauerte auch nicht lange, so kam er wieder in die Höhe, hatte die Kugel im Maul und warf sie ans Land. Wie die Königstochter ihre Kugel wieder erblickte, lief sie geschwind darauf zu, hob sie auf und war so froh, sie wieder in ihrer Hand zu halten, daß sie an nichts weiter gedachte, sondern damit nach Haus eilte. Der Frosch rief ihr nach: »warte, Königstochter, und nimm mich mit, wie du versprochen hast;« aber sie hörte nicht darauf.</a:t>
            </a:r>
            <a:r>
              <a:rPr lang="de-DE" sz="900" b="0" i="0" u="none" strike="noStrike" dirty="0">
                <a:solidFill>
                  <a:srgbClr val="1446C6"/>
                </a:solidFill>
                <a:effectLst/>
                <a:latin typeface="arial" panose="020B0604020202020204" pitchFamily="34" charset="0"/>
                <a:hlinkClick r:id="rId2" tooltip="Vorlage"/>
              </a:rPr>
              <a:t>[2]</a:t>
            </a:r>
            <a:endParaRPr lang="de-DE" sz="900" b="0" i="0" dirty="0">
              <a:solidFill>
                <a:srgbClr val="000000"/>
              </a:solidFill>
              <a:effectLst/>
              <a:latin typeface="arial" panose="020B0604020202020204" pitchFamily="34" charset="0"/>
            </a:endParaRPr>
          </a:p>
          <a:p>
            <a:pPr algn="l">
              <a:buNone/>
            </a:pPr>
            <a:r>
              <a:rPr lang="de-DE" sz="900" b="0" i="0" dirty="0">
                <a:solidFill>
                  <a:srgbClr val="000000"/>
                </a:solidFill>
                <a:effectLst/>
                <a:latin typeface="arial" panose="020B0604020202020204" pitchFamily="34" charset="0"/>
              </a:rPr>
              <a:t>Am andern Tage saß die Königstochter an der Tafel, da hörte sie etwas die Marmortreppe heraufkommen, plitsch, platsch! plitsch, platsch! bald darauf klopfte es auch an der Thüre und rief: »Königstochter, jüngste, mach mir auf!« Sie lief hin und machte die Thüre auf, da war es der Fresch, an den sie nicht mehr gedacht hatte; ganz erschrocken warf sie die Thüre hastig zu und setzte sich wieder an die Tafel. Der König aber sah, daß ihr das Herz klopfte, und sagte: »warum fürchtest du dich?« – »Da draußen ist ein garstiger Frosch, sagte sie, der hat mir meine goldne Kugel aus dem Wasser geholt, ich versprach ihm dafür, er sollte mein Geselle werden, ich glaubte aber nimmermehr, daß er aus seinem Wasser heraus könnte, nun ist er draußen vor der Thür und will herein.« Indem klopfte es zum zweitenmal und rief:</a:t>
            </a:r>
          </a:p>
          <a:p>
            <a:pPr algn="l">
              <a:buNone/>
            </a:pPr>
            <a:br>
              <a:rPr lang="de-DE" sz="900" dirty="0"/>
            </a:br>
            <a:r>
              <a:rPr lang="de-DE" sz="900" b="0" i="0" dirty="0">
                <a:solidFill>
                  <a:srgbClr val="000000"/>
                </a:solidFill>
                <a:effectLst/>
                <a:latin typeface="arial" panose="020B0604020202020204" pitchFamily="34" charset="0"/>
              </a:rPr>
              <a:t>»Königstochter, jüngste,</a:t>
            </a:r>
          </a:p>
          <a:p>
            <a:pPr algn="l">
              <a:buNone/>
            </a:pPr>
            <a:r>
              <a:rPr lang="de-DE" sz="900" b="0" i="0" dirty="0">
                <a:solidFill>
                  <a:srgbClr val="000000"/>
                </a:solidFill>
                <a:effectLst/>
                <a:latin typeface="arial" panose="020B0604020202020204" pitchFamily="34" charset="0"/>
              </a:rPr>
              <a:t>mach mir auf,</a:t>
            </a:r>
          </a:p>
          <a:p>
            <a:pPr algn="l">
              <a:buNone/>
            </a:pPr>
            <a:r>
              <a:rPr lang="de-DE" sz="900" b="0" i="0" dirty="0">
                <a:solidFill>
                  <a:srgbClr val="000000"/>
                </a:solidFill>
                <a:effectLst/>
                <a:latin typeface="arial" panose="020B0604020202020204" pitchFamily="34" charset="0"/>
              </a:rPr>
              <a:t>weiß du nicht was gestern</a:t>
            </a:r>
          </a:p>
          <a:p>
            <a:pPr algn="l">
              <a:buNone/>
            </a:pPr>
            <a:r>
              <a:rPr lang="de-DE" sz="900" b="0" i="0" dirty="0">
                <a:solidFill>
                  <a:srgbClr val="000000"/>
                </a:solidFill>
                <a:effectLst/>
                <a:latin typeface="arial" panose="020B0604020202020204" pitchFamily="34" charset="0"/>
              </a:rPr>
              <a:t>du zu mir gesagt</a:t>
            </a:r>
          </a:p>
          <a:p>
            <a:pPr algn="l">
              <a:buNone/>
            </a:pPr>
            <a:r>
              <a:rPr lang="de-DE" sz="900" b="0" i="0" dirty="0">
                <a:solidFill>
                  <a:srgbClr val="000000"/>
                </a:solidFill>
                <a:effectLst/>
                <a:latin typeface="arial" panose="020B0604020202020204" pitchFamily="34" charset="0"/>
              </a:rPr>
              <a:t>bei dem kühlen Brunnenwasser?</a:t>
            </a:r>
          </a:p>
          <a:p>
            <a:pPr algn="l">
              <a:buNone/>
            </a:pPr>
            <a:r>
              <a:rPr lang="de-DE" sz="900" b="0" i="0" dirty="0">
                <a:solidFill>
                  <a:srgbClr val="000000"/>
                </a:solidFill>
                <a:effectLst/>
                <a:latin typeface="arial" panose="020B0604020202020204" pitchFamily="34" charset="0"/>
              </a:rPr>
              <a:t>Königstochter, jüngste,</a:t>
            </a:r>
          </a:p>
          <a:p>
            <a:pPr algn="l">
              <a:buNone/>
            </a:pPr>
            <a:r>
              <a:rPr lang="de-DE" sz="900" b="0" i="0" dirty="0">
                <a:solidFill>
                  <a:srgbClr val="000000"/>
                </a:solidFill>
                <a:effectLst/>
                <a:latin typeface="arial" panose="020B0604020202020204" pitchFamily="34" charset="0"/>
              </a:rPr>
              <a:t>mach mir auf.«</a:t>
            </a:r>
          </a:p>
          <a:p>
            <a:pPr algn="l">
              <a:buNone/>
            </a:pPr>
            <a:br>
              <a:rPr lang="de-DE" sz="900" dirty="0"/>
            </a:br>
            <a:r>
              <a:rPr lang="de-DE" sz="900" b="0" i="0" dirty="0">
                <a:solidFill>
                  <a:srgbClr val="000000"/>
                </a:solidFill>
                <a:effectLst/>
                <a:latin typeface="arial" panose="020B0604020202020204" pitchFamily="34" charset="0"/>
              </a:rPr>
              <a:t>Der König sagte: »was du versprochen hast, mußt du halten, geh und mach dem Frosch die Thüre auf.« Sie gehorchte und der Frosch hüpfte herein, und ihr auf dem Fuße immer nach, bis</a:t>
            </a:r>
            <a:r>
              <a:rPr lang="de-DE" sz="900" b="0" i="0" u="none" strike="noStrike" dirty="0">
                <a:solidFill>
                  <a:srgbClr val="1446C6"/>
                </a:solidFill>
                <a:effectLst/>
                <a:latin typeface="arial" panose="020B0604020202020204" pitchFamily="34" charset="0"/>
                <a:hlinkClick r:id="rId2" tooltip="Vorlage"/>
              </a:rPr>
              <a:t>[3]</a:t>
            </a:r>
            <a:r>
              <a:rPr lang="de-DE" sz="900" b="0" i="0" dirty="0">
                <a:solidFill>
                  <a:srgbClr val="000000"/>
                </a:solidFill>
                <a:effectLst/>
                <a:latin typeface="arial" panose="020B0604020202020204" pitchFamily="34" charset="0"/>
              </a:rPr>
              <a:t> zu ihrem Stuhl, und als sie sich wieder gesetzt hatte, da rief er: »heb mich herauf auf einen Stuhl neben dich.« Die Königstochter wollte nicht, aber der König befahl es ihr. Wie der Frosch oben war, sprach er: »nun schieb dein goldenes Tellerlein näher, ich will mit dir davon essen.« Das mußte sie auch thun. Wie er sich satt gegessen hatte, sagte er: »nun bin ich müd' und will schlafen, bring mich hinauf in dein Kämmerlein, mach dein Bettlein zurecht, da wollen wir uns hineinlegen.« Die Königs tochter erschrack, wie sie das hörte, sie fürchtete sich vor dem kalten Frosch, sie getraute sich nicht ihn anzurühren und nun sollte er bei ihr in ihrem Bett liegen, sie fing an zu weinen und wollte durchaus nicht. Da ward der König zornig und befahl ihr bei seiner Ungnade, zu thun, was sie versprochen habe. Es half nichts, sie mußte thun, wie ihr Vater wollte, aber sie war bitterböse in ihrem Herzen. Sie packte den Frosch mit zwei Fingern und trug ihn hinauf in ihre Kammer, legte sich ins Bett und statt ihn neben sich zu legen, warf sie ihn bratsch! an die Wand; »da nun wirst du mich in Ruh lassen, du garstiger Frosch!«</a:t>
            </a:r>
          </a:p>
          <a:p>
            <a:pPr algn="l">
              <a:buNone/>
            </a:pPr>
            <a:r>
              <a:rPr lang="de-DE" sz="900" b="0" i="0" dirty="0">
                <a:solidFill>
                  <a:srgbClr val="000000"/>
                </a:solidFill>
                <a:effectLst/>
                <a:latin typeface="arial" panose="020B0604020202020204" pitchFamily="34" charset="0"/>
              </a:rPr>
              <a:t>Aber der Frosch fiel nicht todt herunter, sondern wie er herab auf das Bett kam, da wars ein schöner junger Prinz. Der war nun ihr lieber Geselle, und sie hielt ihn werth wie</a:t>
            </a:r>
            <a:r>
              <a:rPr lang="de-DE" sz="900" b="0" i="0" u="none" strike="noStrike" dirty="0">
                <a:solidFill>
                  <a:srgbClr val="1446C6"/>
                </a:solidFill>
                <a:effectLst/>
                <a:latin typeface="arial" panose="020B0604020202020204" pitchFamily="34" charset="0"/>
                <a:hlinkClick r:id="rId2" tooltip="Vorlage"/>
              </a:rPr>
              <a:t>[4]</a:t>
            </a:r>
            <a:r>
              <a:rPr lang="de-DE" sz="900" b="0" i="0" dirty="0">
                <a:solidFill>
                  <a:srgbClr val="000000"/>
                </a:solidFill>
                <a:effectLst/>
                <a:latin typeface="arial" panose="020B0604020202020204" pitchFamily="34" charset="0"/>
              </a:rPr>
              <a:t> sie versprochen hatte, und sie schliefen vergnügt zusammen ein. Am Morgen aber kam ein prächtiger Wagen mit acht Pferden bespannt, mit Federn geputzt und goldschimmernd, dabei war der treue Heinrich des Prinzen, der hatte sich so betrübt über die Verwandlung desselben, daß er drei eiserne Bande um sein Herz legen mußte, damit es vor Traurigkeit nicht zerspringe. Der Prinz setzte sich mit der Königstochter in den Wagen, der treue Diener aber stand hinten auf, so wollten sie in sein Reich fahren. Und wie sie ein Stück Weges gefahren waren, hörte der Prinz hinter sich ein lautes Krachen, da drehte er sich um und rief:</a:t>
            </a:r>
          </a:p>
          <a:p>
            <a:pPr algn="l">
              <a:buNone/>
            </a:pPr>
            <a:br>
              <a:rPr lang="de-DE" sz="900" dirty="0"/>
            </a:br>
            <a:r>
              <a:rPr lang="de-DE" sz="900" b="0" i="0" dirty="0">
                <a:solidFill>
                  <a:srgbClr val="000000"/>
                </a:solidFill>
                <a:effectLst/>
                <a:latin typeface="arial" panose="020B0604020202020204" pitchFamily="34" charset="0"/>
              </a:rPr>
              <a:t>»Heinrich, der Wagen bricht!« –</a:t>
            </a:r>
          </a:p>
          <a:p>
            <a:pPr algn="l">
              <a:buNone/>
            </a:pPr>
            <a:r>
              <a:rPr lang="de-DE" sz="900" b="0" i="0" dirty="0">
                <a:solidFill>
                  <a:srgbClr val="000000"/>
                </a:solidFill>
                <a:effectLst/>
                <a:latin typeface="arial" panose="020B0604020202020204" pitchFamily="34" charset="0"/>
              </a:rPr>
              <a:t>»Nein Herr, der Wagen nicht,</a:t>
            </a:r>
          </a:p>
          <a:p>
            <a:pPr algn="l">
              <a:buNone/>
            </a:pPr>
            <a:r>
              <a:rPr lang="de-DE" sz="900" b="0" i="0" dirty="0">
                <a:solidFill>
                  <a:srgbClr val="000000"/>
                </a:solidFill>
                <a:effectLst/>
                <a:latin typeface="arial" panose="020B0604020202020204" pitchFamily="34" charset="0"/>
              </a:rPr>
              <a:t>es ist ein Band von meinem Herzen,</a:t>
            </a:r>
          </a:p>
          <a:p>
            <a:pPr algn="l">
              <a:buNone/>
            </a:pPr>
            <a:r>
              <a:rPr lang="de-DE" sz="900" b="0" i="0" dirty="0">
                <a:solidFill>
                  <a:srgbClr val="000000"/>
                </a:solidFill>
                <a:effectLst/>
                <a:latin typeface="arial" panose="020B0604020202020204" pitchFamily="34" charset="0"/>
              </a:rPr>
              <a:t>das da lag in großen Schmerzen,</a:t>
            </a:r>
          </a:p>
          <a:p>
            <a:pPr algn="l">
              <a:buNone/>
            </a:pPr>
            <a:r>
              <a:rPr lang="de-DE" sz="900" b="0" i="0" dirty="0">
                <a:solidFill>
                  <a:srgbClr val="000000"/>
                </a:solidFill>
                <a:effectLst/>
                <a:latin typeface="arial" panose="020B0604020202020204" pitchFamily="34" charset="0"/>
              </a:rPr>
              <a:t>als ihr in dem Brunnen saßt,</a:t>
            </a:r>
          </a:p>
          <a:p>
            <a:pPr algn="l">
              <a:buNone/>
            </a:pPr>
            <a:r>
              <a:rPr lang="de-DE" sz="900" b="0" i="0" dirty="0">
                <a:solidFill>
                  <a:srgbClr val="000000"/>
                </a:solidFill>
                <a:effectLst/>
                <a:latin typeface="arial" panose="020B0604020202020204" pitchFamily="34" charset="0"/>
              </a:rPr>
              <a:t>als ihr eine Fretsche (Frosch) was't.« (wart)</a:t>
            </a:r>
          </a:p>
          <a:p>
            <a:pPr algn="l"/>
            <a:br>
              <a:rPr lang="de-DE" sz="900" dirty="0"/>
            </a:br>
            <a:r>
              <a:rPr lang="de-DE" sz="900" b="0" i="0" dirty="0">
                <a:solidFill>
                  <a:srgbClr val="000000"/>
                </a:solidFill>
                <a:effectLst/>
                <a:latin typeface="arial" panose="020B0604020202020204" pitchFamily="34" charset="0"/>
              </a:rPr>
              <a:t>Noch einmal und noch einmal hörte es der Prinz krachen, und meinte: der Wagen bräche, aber es waren nur die Bande, die vom Herzen des treuen Heinrich absprangen, weil sein Herr erlöst und glücklich war.</a:t>
            </a:r>
          </a:p>
        </p:txBody>
      </p:sp>
      <p:sp>
        <p:nvSpPr>
          <p:cNvPr id="5" name="TextBox 4">
            <a:extLst>
              <a:ext uri="{FF2B5EF4-FFF2-40B4-BE49-F238E27FC236}">
                <a16:creationId xmlns:a16="http://schemas.microsoft.com/office/drawing/2014/main" id="{EC7A6622-4324-8F49-F280-B602B635BC89}"/>
              </a:ext>
            </a:extLst>
          </p:cNvPr>
          <p:cNvSpPr txBox="1"/>
          <p:nvPr/>
        </p:nvSpPr>
        <p:spPr>
          <a:xfrm>
            <a:off x="557906" y="0"/>
            <a:ext cx="11425547" cy="738664"/>
          </a:xfrm>
          <a:prstGeom prst="rect">
            <a:avLst/>
          </a:prstGeom>
          <a:noFill/>
        </p:spPr>
        <p:txBody>
          <a:bodyPr wrap="square">
            <a:spAutoFit/>
          </a:bodyPr>
          <a:lstStyle/>
          <a:p>
            <a:r>
              <a:rPr lang="en-US" sz="1400" dirty="0">
                <a:hlinkClick r:id="rId3"/>
              </a:rPr>
              <a:t>http://www.zeno.org/Literatur/M/Grimm,+Jacob+und+Wilhelm/M%C3%A4rchen/Kinder-+und+Hausm%C3%A4rchen+(1812-15)/Erster+Band/1.+Der+Froschk%C3%B6nig+oder+der+eiserne+Heinrich</a:t>
            </a:r>
            <a:endParaRPr lang="en-US" sz="1400" dirty="0"/>
          </a:p>
          <a:p>
            <a:endParaRPr lang="en-US" sz="1400" dirty="0"/>
          </a:p>
        </p:txBody>
      </p:sp>
    </p:spTree>
    <p:extLst>
      <p:ext uri="{BB962C8B-B14F-4D97-AF65-F5344CB8AC3E}">
        <p14:creationId xmlns:p14="http://schemas.microsoft.com/office/powerpoint/2010/main" val="384951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7448</TotalTime>
  <Words>2843</Words>
  <Application>Microsoft Office PowerPoint</Application>
  <PresentationFormat>Widescreen</PresentationFormat>
  <Paragraphs>53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Arial</vt:lpstr>
      <vt:lpstr>Times New Roman</vt:lpstr>
      <vt:lpstr>Office Theme</vt:lpstr>
      <vt:lpstr>Grimm00</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Bill Worstell</dc:creator>
  <cp:lastModifiedBy>Bill Worstell</cp:lastModifiedBy>
  <cp:revision>3</cp:revision>
  <dcterms:created xsi:type="dcterms:W3CDTF">2025-04-27T15:28:57Z</dcterms:created>
  <dcterms:modified xsi:type="dcterms:W3CDTF">2025-05-02T19:37:55Z</dcterms:modified>
</cp:coreProperties>
</file>