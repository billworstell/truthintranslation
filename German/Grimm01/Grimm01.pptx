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71" r:id="rId3"/>
    <p:sldId id="273" r:id="rId4"/>
    <p:sldId id="278" r:id="rId5"/>
    <p:sldId id="274" r:id="rId6"/>
    <p:sldId id="257" r:id="rId7"/>
    <p:sldId id="260" r:id="rId8"/>
    <p:sldId id="258" r:id="rId9"/>
    <p:sldId id="261" r:id="rId10"/>
    <p:sldId id="267" r:id="rId11"/>
    <p:sldId id="264" r:id="rId12"/>
    <p:sldId id="259" r:id="rId13"/>
    <p:sldId id="263" r:id="rId14"/>
    <p:sldId id="269" r:id="rId15"/>
    <p:sldId id="270" r:id="rId16"/>
    <p:sldId id="275" r:id="rId17"/>
    <p:sldId id="279" r:id="rId18"/>
    <p:sldId id="280"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0017" autoAdjust="0"/>
    <p:restoredTop sz="94660"/>
  </p:normalViewPr>
  <p:slideViewPr>
    <p:cSldViewPr snapToGrid="0" showGuides="1">
      <p:cViewPr varScale="1">
        <p:scale>
          <a:sx n="61" d="100"/>
          <a:sy n="61" d="100"/>
        </p:scale>
        <p:origin x="576" y="28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C666A2-EF05-7165-7F62-A48A43B0F18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9B5D7148-0852-0676-8760-C969100BAF9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8F4BFBF1-491F-D808-2101-8F34CCD85645}"/>
              </a:ext>
            </a:extLst>
          </p:cNvPr>
          <p:cNvSpPr>
            <a:spLocks noGrp="1"/>
          </p:cNvSpPr>
          <p:nvPr>
            <p:ph type="dt" sz="half" idx="10"/>
          </p:nvPr>
        </p:nvSpPr>
        <p:spPr/>
        <p:txBody>
          <a:bodyPr/>
          <a:lstStyle/>
          <a:p>
            <a:fld id="{7F4DF181-6867-433B-8B20-BE4B2E816B2B}" type="datetimeFigureOut">
              <a:rPr lang="en-US" smtClean="0"/>
              <a:t>5/27/2025</a:t>
            </a:fld>
            <a:endParaRPr lang="en-US"/>
          </a:p>
        </p:txBody>
      </p:sp>
      <p:sp>
        <p:nvSpPr>
          <p:cNvPr id="5" name="Footer Placeholder 4">
            <a:extLst>
              <a:ext uri="{FF2B5EF4-FFF2-40B4-BE49-F238E27FC236}">
                <a16:creationId xmlns:a16="http://schemas.microsoft.com/office/drawing/2014/main" id="{95A59F62-7111-1BF5-DA41-DAEC52E038C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10A9035-985A-0844-50C5-6936DBF54BD4}"/>
              </a:ext>
            </a:extLst>
          </p:cNvPr>
          <p:cNvSpPr>
            <a:spLocks noGrp="1"/>
          </p:cNvSpPr>
          <p:nvPr>
            <p:ph type="sldNum" sz="quarter" idx="12"/>
          </p:nvPr>
        </p:nvSpPr>
        <p:spPr/>
        <p:txBody>
          <a:bodyPr/>
          <a:lstStyle/>
          <a:p>
            <a:fld id="{30A35E59-5C6C-4619-B1A5-4200ECA8D3A1}" type="slidenum">
              <a:rPr lang="en-US" smtClean="0"/>
              <a:t>‹#›</a:t>
            </a:fld>
            <a:endParaRPr lang="en-US"/>
          </a:p>
        </p:txBody>
      </p:sp>
    </p:spTree>
    <p:extLst>
      <p:ext uri="{BB962C8B-B14F-4D97-AF65-F5344CB8AC3E}">
        <p14:creationId xmlns:p14="http://schemas.microsoft.com/office/powerpoint/2010/main" val="16502404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27ACF2-F9D0-4F96-54F3-DA7558B1414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8561C5E-2471-DDC1-4E87-A0E9895E41C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DDCA2E-E25F-85E1-4520-0A2DD62BDB4D}"/>
              </a:ext>
            </a:extLst>
          </p:cNvPr>
          <p:cNvSpPr>
            <a:spLocks noGrp="1"/>
          </p:cNvSpPr>
          <p:nvPr>
            <p:ph type="dt" sz="half" idx="10"/>
          </p:nvPr>
        </p:nvSpPr>
        <p:spPr/>
        <p:txBody>
          <a:bodyPr/>
          <a:lstStyle/>
          <a:p>
            <a:fld id="{7F4DF181-6867-433B-8B20-BE4B2E816B2B}" type="datetimeFigureOut">
              <a:rPr lang="en-US" smtClean="0"/>
              <a:t>5/27/2025</a:t>
            </a:fld>
            <a:endParaRPr lang="en-US"/>
          </a:p>
        </p:txBody>
      </p:sp>
      <p:sp>
        <p:nvSpPr>
          <p:cNvPr id="5" name="Footer Placeholder 4">
            <a:extLst>
              <a:ext uri="{FF2B5EF4-FFF2-40B4-BE49-F238E27FC236}">
                <a16:creationId xmlns:a16="http://schemas.microsoft.com/office/drawing/2014/main" id="{47AA3A03-1267-7C2B-2E09-2B2E76898BF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291CC5D-8DE2-0343-4476-743FEEC51EBE}"/>
              </a:ext>
            </a:extLst>
          </p:cNvPr>
          <p:cNvSpPr>
            <a:spLocks noGrp="1"/>
          </p:cNvSpPr>
          <p:nvPr>
            <p:ph type="sldNum" sz="quarter" idx="12"/>
          </p:nvPr>
        </p:nvSpPr>
        <p:spPr/>
        <p:txBody>
          <a:bodyPr/>
          <a:lstStyle/>
          <a:p>
            <a:fld id="{30A35E59-5C6C-4619-B1A5-4200ECA8D3A1}" type="slidenum">
              <a:rPr lang="en-US" smtClean="0"/>
              <a:t>‹#›</a:t>
            </a:fld>
            <a:endParaRPr lang="en-US"/>
          </a:p>
        </p:txBody>
      </p:sp>
    </p:spTree>
    <p:extLst>
      <p:ext uri="{BB962C8B-B14F-4D97-AF65-F5344CB8AC3E}">
        <p14:creationId xmlns:p14="http://schemas.microsoft.com/office/powerpoint/2010/main" val="20665836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8654FA-52A6-FA65-EC3E-8F57CED33D8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7EF6AD24-4A37-23A1-6451-A22BF8ED0AF9}"/>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1AC5117-81DD-A3A2-80A3-CFE07556B779}"/>
              </a:ext>
            </a:extLst>
          </p:cNvPr>
          <p:cNvSpPr>
            <a:spLocks noGrp="1"/>
          </p:cNvSpPr>
          <p:nvPr>
            <p:ph type="dt" sz="half" idx="10"/>
          </p:nvPr>
        </p:nvSpPr>
        <p:spPr/>
        <p:txBody>
          <a:bodyPr/>
          <a:lstStyle/>
          <a:p>
            <a:fld id="{7F4DF181-6867-433B-8B20-BE4B2E816B2B}" type="datetimeFigureOut">
              <a:rPr lang="en-US" smtClean="0"/>
              <a:t>5/27/2025</a:t>
            </a:fld>
            <a:endParaRPr lang="en-US"/>
          </a:p>
        </p:txBody>
      </p:sp>
      <p:sp>
        <p:nvSpPr>
          <p:cNvPr id="5" name="Footer Placeholder 4">
            <a:extLst>
              <a:ext uri="{FF2B5EF4-FFF2-40B4-BE49-F238E27FC236}">
                <a16:creationId xmlns:a16="http://schemas.microsoft.com/office/drawing/2014/main" id="{55DAE115-DC87-D7A9-6645-2BB80B019A4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3875AF4-D0A6-6AA5-9973-86691D6457ED}"/>
              </a:ext>
            </a:extLst>
          </p:cNvPr>
          <p:cNvSpPr>
            <a:spLocks noGrp="1"/>
          </p:cNvSpPr>
          <p:nvPr>
            <p:ph type="sldNum" sz="quarter" idx="12"/>
          </p:nvPr>
        </p:nvSpPr>
        <p:spPr/>
        <p:txBody>
          <a:bodyPr/>
          <a:lstStyle/>
          <a:p>
            <a:fld id="{30A35E59-5C6C-4619-B1A5-4200ECA8D3A1}" type="slidenum">
              <a:rPr lang="en-US" smtClean="0"/>
              <a:t>‹#›</a:t>
            </a:fld>
            <a:endParaRPr lang="en-US"/>
          </a:p>
        </p:txBody>
      </p:sp>
    </p:spTree>
    <p:extLst>
      <p:ext uri="{BB962C8B-B14F-4D97-AF65-F5344CB8AC3E}">
        <p14:creationId xmlns:p14="http://schemas.microsoft.com/office/powerpoint/2010/main" val="204601696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42906B-F3E4-1D90-6D3D-5B540655D72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AACB56A-4A4C-FD5A-4B97-19F55D50523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1A9FA3A-1FE0-7223-E82B-15DE3733E53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161CB67-34FD-49C5-FB06-697CBC81D71D}"/>
              </a:ext>
            </a:extLst>
          </p:cNvPr>
          <p:cNvSpPr>
            <a:spLocks noGrp="1"/>
          </p:cNvSpPr>
          <p:nvPr>
            <p:ph type="dt" sz="half" idx="10"/>
          </p:nvPr>
        </p:nvSpPr>
        <p:spPr/>
        <p:txBody>
          <a:bodyPr/>
          <a:lstStyle/>
          <a:p>
            <a:fld id="{7F4DF181-6867-433B-8B20-BE4B2E816B2B}" type="datetimeFigureOut">
              <a:rPr lang="en-US" smtClean="0"/>
              <a:t>5/27/2025</a:t>
            </a:fld>
            <a:endParaRPr lang="en-US"/>
          </a:p>
        </p:txBody>
      </p:sp>
      <p:sp>
        <p:nvSpPr>
          <p:cNvPr id="6" name="Footer Placeholder 5">
            <a:extLst>
              <a:ext uri="{FF2B5EF4-FFF2-40B4-BE49-F238E27FC236}">
                <a16:creationId xmlns:a16="http://schemas.microsoft.com/office/drawing/2014/main" id="{DD8D6E45-B7CA-8F4E-5303-33495A0286B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FFD92B3-20FD-7F2E-D35C-17AA901EF6D0}"/>
              </a:ext>
            </a:extLst>
          </p:cNvPr>
          <p:cNvSpPr>
            <a:spLocks noGrp="1"/>
          </p:cNvSpPr>
          <p:nvPr>
            <p:ph type="sldNum" sz="quarter" idx="12"/>
          </p:nvPr>
        </p:nvSpPr>
        <p:spPr/>
        <p:txBody>
          <a:bodyPr/>
          <a:lstStyle/>
          <a:p>
            <a:fld id="{30A35E59-5C6C-4619-B1A5-4200ECA8D3A1}" type="slidenum">
              <a:rPr lang="en-US" smtClean="0"/>
              <a:t>‹#›</a:t>
            </a:fld>
            <a:endParaRPr lang="en-US"/>
          </a:p>
        </p:txBody>
      </p:sp>
    </p:spTree>
    <p:extLst>
      <p:ext uri="{BB962C8B-B14F-4D97-AF65-F5344CB8AC3E}">
        <p14:creationId xmlns:p14="http://schemas.microsoft.com/office/powerpoint/2010/main" val="37640453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28BFB2-40F8-14C4-1593-7A2BB7A0705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3F23DC71-7C9E-2815-A1B5-6A7533ABE80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56FCA54-A6F4-1123-899F-DB236212A19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484D1F5-FAF1-2C23-9FAA-C29B9A7BEDB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6E74F3D-F4C7-A9DB-C690-924B696418C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31B467FF-EC79-E0D2-ABC4-1E8FB79E17D1}"/>
              </a:ext>
            </a:extLst>
          </p:cNvPr>
          <p:cNvSpPr>
            <a:spLocks noGrp="1"/>
          </p:cNvSpPr>
          <p:nvPr>
            <p:ph type="dt" sz="half" idx="10"/>
          </p:nvPr>
        </p:nvSpPr>
        <p:spPr/>
        <p:txBody>
          <a:bodyPr/>
          <a:lstStyle/>
          <a:p>
            <a:fld id="{7F4DF181-6867-433B-8B20-BE4B2E816B2B}" type="datetimeFigureOut">
              <a:rPr lang="en-US" smtClean="0"/>
              <a:t>5/27/2025</a:t>
            </a:fld>
            <a:endParaRPr lang="en-US"/>
          </a:p>
        </p:txBody>
      </p:sp>
      <p:sp>
        <p:nvSpPr>
          <p:cNvPr id="8" name="Footer Placeholder 7">
            <a:extLst>
              <a:ext uri="{FF2B5EF4-FFF2-40B4-BE49-F238E27FC236}">
                <a16:creationId xmlns:a16="http://schemas.microsoft.com/office/drawing/2014/main" id="{113C6379-B949-2835-6D94-FCA2A65F8C4F}"/>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94038DCB-8E1C-4885-F698-59ED2E4B40CD}"/>
              </a:ext>
            </a:extLst>
          </p:cNvPr>
          <p:cNvSpPr>
            <a:spLocks noGrp="1"/>
          </p:cNvSpPr>
          <p:nvPr>
            <p:ph type="sldNum" sz="quarter" idx="12"/>
          </p:nvPr>
        </p:nvSpPr>
        <p:spPr/>
        <p:txBody>
          <a:bodyPr/>
          <a:lstStyle/>
          <a:p>
            <a:fld id="{30A35E59-5C6C-4619-B1A5-4200ECA8D3A1}" type="slidenum">
              <a:rPr lang="en-US" smtClean="0"/>
              <a:t>‹#›</a:t>
            </a:fld>
            <a:endParaRPr lang="en-US"/>
          </a:p>
        </p:txBody>
      </p:sp>
    </p:spTree>
    <p:extLst>
      <p:ext uri="{BB962C8B-B14F-4D97-AF65-F5344CB8AC3E}">
        <p14:creationId xmlns:p14="http://schemas.microsoft.com/office/powerpoint/2010/main" val="38366144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3E7629-3FC3-C08E-A21A-05FFBC693B5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0E8941B0-7B64-3D8C-BD39-EF5BFF747826}"/>
              </a:ext>
            </a:extLst>
          </p:cNvPr>
          <p:cNvSpPr>
            <a:spLocks noGrp="1"/>
          </p:cNvSpPr>
          <p:nvPr>
            <p:ph type="dt" sz="half" idx="10"/>
          </p:nvPr>
        </p:nvSpPr>
        <p:spPr/>
        <p:txBody>
          <a:bodyPr/>
          <a:lstStyle/>
          <a:p>
            <a:fld id="{7F4DF181-6867-433B-8B20-BE4B2E816B2B}" type="datetimeFigureOut">
              <a:rPr lang="en-US" smtClean="0"/>
              <a:t>5/27/2025</a:t>
            </a:fld>
            <a:endParaRPr lang="en-US"/>
          </a:p>
        </p:txBody>
      </p:sp>
      <p:sp>
        <p:nvSpPr>
          <p:cNvPr id="4" name="Footer Placeholder 3">
            <a:extLst>
              <a:ext uri="{FF2B5EF4-FFF2-40B4-BE49-F238E27FC236}">
                <a16:creationId xmlns:a16="http://schemas.microsoft.com/office/drawing/2014/main" id="{89D94519-8BF8-C2B1-29C6-1ED93AA9A44A}"/>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3C95A29-B2A8-9BDF-0998-3F7E2E1B84E8}"/>
              </a:ext>
            </a:extLst>
          </p:cNvPr>
          <p:cNvSpPr>
            <a:spLocks noGrp="1"/>
          </p:cNvSpPr>
          <p:nvPr>
            <p:ph type="sldNum" sz="quarter" idx="12"/>
          </p:nvPr>
        </p:nvSpPr>
        <p:spPr/>
        <p:txBody>
          <a:bodyPr/>
          <a:lstStyle/>
          <a:p>
            <a:fld id="{30A35E59-5C6C-4619-B1A5-4200ECA8D3A1}" type="slidenum">
              <a:rPr lang="en-US" smtClean="0"/>
              <a:t>‹#›</a:t>
            </a:fld>
            <a:endParaRPr lang="en-US"/>
          </a:p>
        </p:txBody>
      </p:sp>
    </p:spTree>
    <p:extLst>
      <p:ext uri="{BB962C8B-B14F-4D97-AF65-F5344CB8AC3E}">
        <p14:creationId xmlns:p14="http://schemas.microsoft.com/office/powerpoint/2010/main" val="67171471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5C4E8F7-4B80-9123-CBD0-D0F26A23E70C}"/>
              </a:ext>
            </a:extLst>
          </p:cNvPr>
          <p:cNvSpPr>
            <a:spLocks noGrp="1"/>
          </p:cNvSpPr>
          <p:nvPr>
            <p:ph type="dt" sz="half" idx="10"/>
          </p:nvPr>
        </p:nvSpPr>
        <p:spPr/>
        <p:txBody>
          <a:bodyPr/>
          <a:lstStyle/>
          <a:p>
            <a:fld id="{7F4DF181-6867-433B-8B20-BE4B2E816B2B}" type="datetimeFigureOut">
              <a:rPr lang="en-US" smtClean="0"/>
              <a:t>5/27/2025</a:t>
            </a:fld>
            <a:endParaRPr lang="en-US"/>
          </a:p>
        </p:txBody>
      </p:sp>
      <p:sp>
        <p:nvSpPr>
          <p:cNvPr id="3" name="Footer Placeholder 2">
            <a:extLst>
              <a:ext uri="{FF2B5EF4-FFF2-40B4-BE49-F238E27FC236}">
                <a16:creationId xmlns:a16="http://schemas.microsoft.com/office/drawing/2014/main" id="{D9279CE9-774D-C78F-61D4-CA0F79BE461F}"/>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4109CC0-2040-2354-AB87-438CABA5DF59}"/>
              </a:ext>
            </a:extLst>
          </p:cNvPr>
          <p:cNvSpPr>
            <a:spLocks noGrp="1"/>
          </p:cNvSpPr>
          <p:nvPr>
            <p:ph type="sldNum" sz="quarter" idx="12"/>
          </p:nvPr>
        </p:nvSpPr>
        <p:spPr/>
        <p:txBody>
          <a:bodyPr/>
          <a:lstStyle/>
          <a:p>
            <a:fld id="{30A35E59-5C6C-4619-B1A5-4200ECA8D3A1}" type="slidenum">
              <a:rPr lang="en-US" smtClean="0"/>
              <a:t>‹#›</a:t>
            </a:fld>
            <a:endParaRPr lang="en-US"/>
          </a:p>
        </p:txBody>
      </p:sp>
    </p:spTree>
    <p:extLst>
      <p:ext uri="{BB962C8B-B14F-4D97-AF65-F5344CB8AC3E}">
        <p14:creationId xmlns:p14="http://schemas.microsoft.com/office/powerpoint/2010/main" val="143322845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A8108E-B25D-333D-B348-D1A588B3832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2B534DB-1106-B076-0822-10FCA7190B3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F5A905D-61B7-3CF5-F7AD-162CF40D766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643BA13-22A1-329F-CB9B-C3F4DF738758}"/>
              </a:ext>
            </a:extLst>
          </p:cNvPr>
          <p:cNvSpPr>
            <a:spLocks noGrp="1"/>
          </p:cNvSpPr>
          <p:nvPr>
            <p:ph type="dt" sz="half" idx="10"/>
          </p:nvPr>
        </p:nvSpPr>
        <p:spPr/>
        <p:txBody>
          <a:bodyPr/>
          <a:lstStyle/>
          <a:p>
            <a:fld id="{7F4DF181-6867-433B-8B20-BE4B2E816B2B}" type="datetimeFigureOut">
              <a:rPr lang="en-US" smtClean="0"/>
              <a:t>5/27/2025</a:t>
            </a:fld>
            <a:endParaRPr lang="en-US"/>
          </a:p>
        </p:txBody>
      </p:sp>
      <p:sp>
        <p:nvSpPr>
          <p:cNvPr id="6" name="Footer Placeholder 5">
            <a:extLst>
              <a:ext uri="{FF2B5EF4-FFF2-40B4-BE49-F238E27FC236}">
                <a16:creationId xmlns:a16="http://schemas.microsoft.com/office/drawing/2014/main" id="{43B3E24C-B2A3-C187-D53D-2B5BF77F765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81EDD39-28F8-D775-6AD9-DCD0EC99E88F}"/>
              </a:ext>
            </a:extLst>
          </p:cNvPr>
          <p:cNvSpPr>
            <a:spLocks noGrp="1"/>
          </p:cNvSpPr>
          <p:nvPr>
            <p:ph type="sldNum" sz="quarter" idx="12"/>
          </p:nvPr>
        </p:nvSpPr>
        <p:spPr/>
        <p:txBody>
          <a:bodyPr/>
          <a:lstStyle/>
          <a:p>
            <a:fld id="{30A35E59-5C6C-4619-B1A5-4200ECA8D3A1}" type="slidenum">
              <a:rPr lang="en-US" smtClean="0"/>
              <a:t>‹#›</a:t>
            </a:fld>
            <a:endParaRPr lang="en-US"/>
          </a:p>
        </p:txBody>
      </p:sp>
    </p:spTree>
    <p:extLst>
      <p:ext uri="{BB962C8B-B14F-4D97-AF65-F5344CB8AC3E}">
        <p14:creationId xmlns:p14="http://schemas.microsoft.com/office/powerpoint/2010/main" val="12882892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75DC21-040E-7ABF-076F-F6F6CE758D0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72664761-9DE1-6176-78A0-36E5589ADDA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52DE24B-6F60-CC03-78F8-D25D59139EB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8C54567-41CA-7E48-B3A6-6B7FB470B0C1}"/>
              </a:ext>
            </a:extLst>
          </p:cNvPr>
          <p:cNvSpPr>
            <a:spLocks noGrp="1"/>
          </p:cNvSpPr>
          <p:nvPr>
            <p:ph type="dt" sz="half" idx="10"/>
          </p:nvPr>
        </p:nvSpPr>
        <p:spPr/>
        <p:txBody>
          <a:bodyPr/>
          <a:lstStyle/>
          <a:p>
            <a:fld id="{7F4DF181-6867-433B-8B20-BE4B2E816B2B}" type="datetimeFigureOut">
              <a:rPr lang="en-US" smtClean="0"/>
              <a:t>5/27/2025</a:t>
            </a:fld>
            <a:endParaRPr lang="en-US"/>
          </a:p>
        </p:txBody>
      </p:sp>
      <p:sp>
        <p:nvSpPr>
          <p:cNvPr id="6" name="Footer Placeholder 5">
            <a:extLst>
              <a:ext uri="{FF2B5EF4-FFF2-40B4-BE49-F238E27FC236}">
                <a16:creationId xmlns:a16="http://schemas.microsoft.com/office/drawing/2014/main" id="{3BF43568-A3BB-0B6B-9097-ADD12897542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1EAAF0E-0B7F-DEBC-9ABD-149086704A08}"/>
              </a:ext>
            </a:extLst>
          </p:cNvPr>
          <p:cNvSpPr>
            <a:spLocks noGrp="1"/>
          </p:cNvSpPr>
          <p:nvPr>
            <p:ph type="sldNum" sz="quarter" idx="12"/>
          </p:nvPr>
        </p:nvSpPr>
        <p:spPr/>
        <p:txBody>
          <a:bodyPr/>
          <a:lstStyle/>
          <a:p>
            <a:fld id="{30A35E59-5C6C-4619-B1A5-4200ECA8D3A1}" type="slidenum">
              <a:rPr lang="en-US" smtClean="0"/>
              <a:t>‹#›</a:t>
            </a:fld>
            <a:endParaRPr lang="en-US"/>
          </a:p>
        </p:txBody>
      </p:sp>
    </p:spTree>
    <p:extLst>
      <p:ext uri="{BB962C8B-B14F-4D97-AF65-F5344CB8AC3E}">
        <p14:creationId xmlns:p14="http://schemas.microsoft.com/office/powerpoint/2010/main" val="10607456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984B80-7979-369D-091C-8610702BD31E}"/>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E53494D-D2C8-7AA0-9B60-6E3B43AFD94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1367AFA-B26F-ED0E-8651-00CA20053D52}"/>
              </a:ext>
            </a:extLst>
          </p:cNvPr>
          <p:cNvSpPr>
            <a:spLocks noGrp="1"/>
          </p:cNvSpPr>
          <p:nvPr>
            <p:ph type="dt" sz="half" idx="10"/>
          </p:nvPr>
        </p:nvSpPr>
        <p:spPr/>
        <p:txBody>
          <a:bodyPr/>
          <a:lstStyle/>
          <a:p>
            <a:fld id="{7F4DF181-6867-433B-8B20-BE4B2E816B2B}" type="datetimeFigureOut">
              <a:rPr lang="en-US" smtClean="0"/>
              <a:t>5/27/2025</a:t>
            </a:fld>
            <a:endParaRPr lang="en-US"/>
          </a:p>
        </p:txBody>
      </p:sp>
      <p:sp>
        <p:nvSpPr>
          <p:cNvPr id="5" name="Footer Placeholder 4">
            <a:extLst>
              <a:ext uri="{FF2B5EF4-FFF2-40B4-BE49-F238E27FC236}">
                <a16:creationId xmlns:a16="http://schemas.microsoft.com/office/drawing/2014/main" id="{D016F1DE-8AE5-A987-150B-73201755FBF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FF0F440-C87D-13B2-52BE-BA6BB72BFDE8}"/>
              </a:ext>
            </a:extLst>
          </p:cNvPr>
          <p:cNvSpPr>
            <a:spLocks noGrp="1"/>
          </p:cNvSpPr>
          <p:nvPr>
            <p:ph type="sldNum" sz="quarter" idx="12"/>
          </p:nvPr>
        </p:nvSpPr>
        <p:spPr/>
        <p:txBody>
          <a:bodyPr/>
          <a:lstStyle/>
          <a:p>
            <a:fld id="{30A35E59-5C6C-4619-B1A5-4200ECA8D3A1}" type="slidenum">
              <a:rPr lang="en-US" smtClean="0"/>
              <a:t>‹#›</a:t>
            </a:fld>
            <a:endParaRPr lang="en-US"/>
          </a:p>
        </p:txBody>
      </p:sp>
    </p:spTree>
    <p:extLst>
      <p:ext uri="{BB962C8B-B14F-4D97-AF65-F5344CB8AC3E}">
        <p14:creationId xmlns:p14="http://schemas.microsoft.com/office/powerpoint/2010/main" val="11769359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DE7352F-5059-1CF0-9BFE-F300426907F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3680D4D-0970-937F-12F7-DFBD8E7EC71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942FB06-6D5E-23E5-02F2-1E1F1F022772}"/>
              </a:ext>
            </a:extLst>
          </p:cNvPr>
          <p:cNvSpPr>
            <a:spLocks noGrp="1"/>
          </p:cNvSpPr>
          <p:nvPr>
            <p:ph type="dt" sz="half" idx="10"/>
          </p:nvPr>
        </p:nvSpPr>
        <p:spPr/>
        <p:txBody>
          <a:bodyPr/>
          <a:lstStyle/>
          <a:p>
            <a:fld id="{7F4DF181-6867-433B-8B20-BE4B2E816B2B}" type="datetimeFigureOut">
              <a:rPr lang="en-US" smtClean="0"/>
              <a:t>5/27/2025</a:t>
            </a:fld>
            <a:endParaRPr lang="en-US"/>
          </a:p>
        </p:txBody>
      </p:sp>
      <p:sp>
        <p:nvSpPr>
          <p:cNvPr id="5" name="Footer Placeholder 4">
            <a:extLst>
              <a:ext uri="{FF2B5EF4-FFF2-40B4-BE49-F238E27FC236}">
                <a16:creationId xmlns:a16="http://schemas.microsoft.com/office/drawing/2014/main" id="{31B7E183-1844-BA81-4A8B-36A0DAE8A8B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7A78E30-7264-CAE9-F3B1-E07942C9CAA1}"/>
              </a:ext>
            </a:extLst>
          </p:cNvPr>
          <p:cNvSpPr>
            <a:spLocks noGrp="1"/>
          </p:cNvSpPr>
          <p:nvPr>
            <p:ph type="sldNum" sz="quarter" idx="12"/>
          </p:nvPr>
        </p:nvSpPr>
        <p:spPr/>
        <p:txBody>
          <a:bodyPr/>
          <a:lstStyle/>
          <a:p>
            <a:fld id="{30A35E59-5C6C-4619-B1A5-4200ECA8D3A1}" type="slidenum">
              <a:rPr lang="en-US" smtClean="0"/>
              <a:t>‹#›</a:t>
            </a:fld>
            <a:endParaRPr lang="en-US"/>
          </a:p>
        </p:txBody>
      </p:sp>
    </p:spTree>
    <p:extLst>
      <p:ext uri="{BB962C8B-B14F-4D97-AF65-F5344CB8AC3E}">
        <p14:creationId xmlns:p14="http://schemas.microsoft.com/office/powerpoint/2010/main" val="344644187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A86A505-D114-8953-A9B5-A7D258EEC5F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C6461A7-28F6-5CA0-BBEE-B7329175F3A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65FC131-4D72-2780-80C6-E176B50ACC1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F4DF181-6867-433B-8B20-BE4B2E816B2B}" type="datetimeFigureOut">
              <a:rPr lang="en-US" smtClean="0"/>
              <a:t>5/27/2025</a:t>
            </a:fld>
            <a:endParaRPr lang="en-US"/>
          </a:p>
        </p:txBody>
      </p:sp>
      <p:sp>
        <p:nvSpPr>
          <p:cNvPr id="5" name="Footer Placeholder 4">
            <a:extLst>
              <a:ext uri="{FF2B5EF4-FFF2-40B4-BE49-F238E27FC236}">
                <a16:creationId xmlns:a16="http://schemas.microsoft.com/office/drawing/2014/main" id="{1AEFE687-8091-9646-5522-D1BE17E848C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89C01763-44B1-3B30-5EC8-19540BFCDAD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0A35E59-5C6C-4619-B1A5-4200ECA8D3A1}" type="slidenum">
              <a:rPr lang="en-US" smtClean="0"/>
              <a:t>‹#›</a:t>
            </a:fld>
            <a:endParaRPr lang="en-US"/>
          </a:p>
        </p:txBody>
      </p:sp>
    </p:spTree>
    <p:extLst>
      <p:ext uri="{BB962C8B-B14F-4D97-AF65-F5344CB8AC3E}">
        <p14:creationId xmlns:p14="http://schemas.microsoft.com/office/powerpoint/2010/main" val="300349110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hyperlink" Target="https://archive.org/details/grimmshouseholdt01grim#:~:text=Grimm%27s%20household%20tales%20%3A%20with,Bell%20and%20sons%2C%20limited" TargetMode="External"/><Relationship Id="rId1" Type="http://schemas.openxmlformats.org/officeDocument/2006/relationships/slideLayout" Target="../slideLayouts/slideLayout7.xml"/><Relationship Id="rId5" Type="http://schemas.openxmlformats.org/officeDocument/2006/relationships/image" Target="../media/image4.png"/><Relationship Id="rId4" Type="http://schemas.openxmlformats.org/officeDocument/2006/relationships/hyperlink" Target="https://archive.org/stream/grimmshouseholdt01grim/grimmshouseholdt01grim_djvu.txt" TargetMode="Externa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hyperlink" Target="https://en.wikisource.org/wiki/Grimm%27s_Household_Tales,_Volume_1" TargetMode="Externa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7.xml"/><Relationship Id="rId4" Type="http://schemas.openxmlformats.org/officeDocument/2006/relationships/hyperlink" Target="https://dn720305.ca.archive.org/0/items/grimmshouseholdt01grim/grimmshouseholdt01grim.pdf" TargetMode="Externa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hyperlink" Target="https://archive.org/details/grimmshouseholdt01grim#:~:text=Grimm%27s%20household%20tales%20%3A%20with,Bell%20and%20sons%2C%20limited" TargetMode="External"/><Relationship Id="rId1" Type="http://schemas.openxmlformats.org/officeDocument/2006/relationships/slideLayout" Target="../slideLayouts/slideLayout7.xml"/><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hyperlink" Target="https://archive.org/stream/grimmshouseholdt01grim/grimmshouseholdt01grim_djvu.txt" TargetMode="Externa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hyperlink" Target="http://www.zeno.org/Literatur/M/Grimm,+Jacob+und+Wilhelm/M%C3%A4rchen/Kinder-+und+Hausm%C3%A4rchen/1.+Der+Froschk%C3%B6nig+oder+der+eiserne+Heinrich" TargetMode="External"/><Relationship Id="rId2" Type="http://schemas.openxmlformats.org/officeDocument/2006/relationships/hyperlink" Target="http://www.zeno.org/Literatur/M/Grimm,+Jacob+und+Wilhelm/M%C3%A4rchen/Kinder-+und+Hausm%C3%A4rchen" TargetMode="External"/><Relationship Id="rId1" Type="http://schemas.openxmlformats.org/officeDocument/2006/relationships/slideLayout" Target="../slideLayouts/slideLayout7.xml"/><Relationship Id="rId5" Type="http://schemas.openxmlformats.org/officeDocument/2006/relationships/image" Target="../media/image15.png"/><Relationship Id="rId4" Type="http://schemas.openxmlformats.org/officeDocument/2006/relationships/image" Target="../media/image14.png"/></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hyperlink" Target="https://books.google.com/books?id=y9tLAAAAIAAJ&amp;pg=PA1#v=onepage&amp;q&amp;f=false" TargetMode="External"/><Relationship Id="rId1" Type="http://schemas.openxmlformats.org/officeDocument/2006/relationships/slideLayout" Target="../slideLayouts/slideLayout7.xml"/><Relationship Id="rId4" Type="http://schemas.openxmlformats.org/officeDocument/2006/relationships/image" Target="../media/image17.png"/></Relationships>
</file>

<file path=ppt/slides/_rels/slide1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hyperlink" Target="https://archive.org/stream/grimmshouseholdt01grim/grimmshouseholdt01grim_djvu.txt" TargetMode="Externa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hyperlink" Target="https://sites.pitt.edu/~dash/grimm.html#jointpublications" TargetMode="External"/><Relationship Id="rId1" Type="http://schemas.openxmlformats.org/officeDocument/2006/relationships/slideLayout" Target="../slideLayouts/slideLayout7.xml"/><Relationship Id="rId5" Type="http://schemas.openxmlformats.org/officeDocument/2006/relationships/image" Target="../media/image21.png"/><Relationship Id="rId4" Type="http://schemas.openxmlformats.org/officeDocument/2006/relationships/hyperlink" Target="http://books.google.com/books?id=y9tLAAAAIAAJ&amp;pg=PP9#v=onepage&amp;q&amp;f=false" TargetMode="External"/></Relationships>
</file>

<file path=ppt/slides/_rels/slide15.xml.rels><?xml version="1.0" encoding="UTF-8" standalone="yes"?>
<Relationships xmlns="http://schemas.openxmlformats.org/package/2006/relationships"><Relationship Id="rId3" Type="http://schemas.openxmlformats.org/officeDocument/2006/relationships/hyperlink" Target="https://books.google.com/books?id=y9tLAAAAIAAJ&amp;pg=PP9#v=onepage&amp;q&amp;f=false" TargetMode="External"/><Relationship Id="rId2" Type="http://schemas.openxmlformats.org/officeDocument/2006/relationships/image" Target="../media/image22.png"/><Relationship Id="rId1" Type="http://schemas.openxmlformats.org/officeDocument/2006/relationships/slideLayout" Target="../slideLayouts/slideLayout7.xml"/><Relationship Id="rId4" Type="http://schemas.openxmlformats.org/officeDocument/2006/relationships/image" Target="../media/image16.png"/></Relationships>
</file>

<file path=ppt/slides/_rels/slide1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4BDE22-5A00-70A3-8701-E3B56827BCE3}"/>
              </a:ext>
            </a:extLst>
          </p:cNvPr>
          <p:cNvSpPr>
            <a:spLocks noGrp="1"/>
          </p:cNvSpPr>
          <p:nvPr>
            <p:ph type="ctrTitle"/>
          </p:nvPr>
        </p:nvSpPr>
        <p:spPr/>
        <p:txBody>
          <a:bodyPr/>
          <a:lstStyle/>
          <a:p>
            <a:r>
              <a:rPr lang="en-US" dirty="0"/>
              <a:t>Grimm01</a:t>
            </a:r>
          </a:p>
        </p:txBody>
      </p:sp>
      <p:sp>
        <p:nvSpPr>
          <p:cNvPr id="3" name="Subtitle 2">
            <a:extLst>
              <a:ext uri="{FF2B5EF4-FFF2-40B4-BE49-F238E27FC236}">
                <a16:creationId xmlns:a16="http://schemas.microsoft.com/office/drawing/2014/main" id="{D45CF3FF-7776-5C99-B3A0-832CDAC278DD}"/>
              </a:ext>
            </a:extLst>
          </p:cNvPr>
          <p:cNvSpPr>
            <a:spLocks noGrp="1"/>
          </p:cNvSpPr>
          <p:nvPr>
            <p:ph type="subTitle" idx="1"/>
          </p:nvPr>
        </p:nvSpPr>
        <p:spPr/>
        <p:txBody>
          <a:bodyPr>
            <a:normAutofit/>
          </a:bodyPr>
          <a:lstStyle/>
          <a:p>
            <a:r>
              <a:rPr lang="de-DE" sz="2800" i="1" u="none" strike="noStrike" baseline="0" dirty="0">
                <a:latin typeface="Noto-Sans-Bold-Italic"/>
              </a:rPr>
              <a:t>Der Wolf und die sieben jungen Geißlein</a:t>
            </a:r>
          </a:p>
          <a:p>
            <a:r>
              <a:rPr lang="en-US" sz="2800" i="1" u="none" strike="noStrike" baseline="0" dirty="0">
                <a:latin typeface="Noto-Sans-Bold-Italic"/>
              </a:rPr>
              <a:t>The Wolf and the Seven Young Kids</a:t>
            </a:r>
            <a:endParaRPr lang="en-US" sz="2800" i="1" dirty="0">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102377413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F73474E6-2AF3-265E-FE76-520B83D173BC}"/>
              </a:ext>
            </a:extLst>
          </p:cNvPr>
          <p:cNvPicPr>
            <a:picLocks noChangeAspect="1"/>
          </p:cNvPicPr>
          <p:nvPr/>
        </p:nvPicPr>
        <p:blipFill>
          <a:blip r:embed="rId2"/>
          <a:stretch>
            <a:fillRect/>
          </a:stretch>
        </p:blipFill>
        <p:spPr>
          <a:xfrm>
            <a:off x="0" y="0"/>
            <a:ext cx="8236373" cy="3200564"/>
          </a:xfrm>
          <a:prstGeom prst="rect">
            <a:avLst/>
          </a:prstGeom>
        </p:spPr>
      </p:pic>
      <p:pic>
        <p:nvPicPr>
          <p:cNvPr id="9" name="Picture 8">
            <a:extLst>
              <a:ext uri="{FF2B5EF4-FFF2-40B4-BE49-F238E27FC236}">
                <a16:creationId xmlns:a16="http://schemas.microsoft.com/office/drawing/2014/main" id="{941247B5-245C-E6F5-25DD-188B83AD8708}"/>
              </a:ext>
            </a:extLst>
          </p:cNvPr>
          <p:cNvPicPr>
            <a:picLocks noChangeAspect="1"/>
          </p:cNvPicPr>
          <p:nvPr/>
        </p:nvPicPr>
        <p:blipFill>
          <a:blip r:embed="rId3"/>
          <a:stretch>
            <a:fillRect/>
          </a:stretch>
        </p:blipFill>
        <p:spPr>
          <a:xfrm>
            <a:off x="2943063" y="2349416"/>
            <a:ext cx="7695912" cy="3937083"/>
          </a:xfrm>
          <a:prstGeom prst="rect">
            <a:avLst/>
          </a:prstGeom>
        </p:spPr>
      </p:pic>
    </p:spTree>
    <p:extLst>
      <p:ext uri="{BB962C8B-B14F-4D97-AF65-F5344CB8AC3E}">
        <p14:creationId xmlns:p14="http://schemas.microsoft.com/office/powerpoint/2010/main" val="168490031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DDDC707F-5819-D16D-D34A-9E9E99DBB7E1}"/>
              </a:ext>
            </a:extLst>
          </p:cNvPr>
          <p:cNvSpPr txBox="1"/>
          <p:nvPr/>
        </p:nvSpPr>
        <p:spPr>
          <a:xfrm>
            <a:off x="0" y="0"/>
            <a:ext cx="6096000" cy="1200329"/>
          </a:xfrm>
          <a:prstGeom prst="rect">
            <a:avLst/>
          </a:prstGeom>
          <a:noFill/>
        </p:spPr>
        <p:txBody>
          <a:bodyPr wrap="square">
            <a:spAutoFit/>
          </a:bodyPr>
          <a:lstStyle/>
          <a:p>
            <a:r>
              <a:rPr lang="en-US" dirty="0">
                <a:hlinkClick r:id="rId2"/>
              </a:rPr>
              <a:t>https://archive.org/details/grimmshouseholdt01grim#:~:text=Grimm%27s%20household%20tales%20%3A%20with,Bell%20and%20sons%2C%20limited</a:t>
            </a:r>
            <a:endParaRPr lang="en-US" dirty="0"/>
          </a:p>
          <a:p>
            <a:endParaRPr lang="en-US" dirty="0"/>
          </a:p>
        </p:txBody>
      </p:sp>
      <p:pic>
        <p:nvPicPr>
          <p:cNvPr id="6" name="Picture 5">
            <a:extLst>
              <a:ext uri="{FF2B5EF4-FFF2-40B4-BE49-F238E27FC236}">
                <a16:creationId xmlns:a16="http://schemas.microsoft.com/office/drawing/2014/main" id="{8856E62C-AD18-E4E9-F5C2-734E452740F4}"/>
              </a:ext>
            </a:extLst>
          </p:cNvPr>
          <p:cNvPicPr>
            <a:picLocks noChangeAspect="1"/>
          </p:cNvPicPr>
          <p:nvPr/>
        </p:nvPicPr>
        <p:blipFill>
          <a:blip r:embed="rId3"/>
          <a:stretch>
            <a:fillRect/>
          </a:stretch>
        </p:blipFill>
        <p:spPr>
          <a:xfrm>
            <a:off x="0" y="1200329"/>
            <a:ext cx="6136105" cy="4656667"/>
          </a:xfrm>
          <a:prstGeom prst="rect">
            <a:avLst/>
          </a:prstGeom>
        </p:spPr>
      </p:pic>
      <p:sp>
        <p:nvSpPr>
          <p:cNvPr id="8" name="TextBox 7">
            <a:extLst>
              <a:ext uri="{FF2B5EF4-FFF2-40B4-BE49-F238E27FC236}">
                <a16:creationId xmlns:a16="http://schemas.microsoft.com/office/drawing/2014/main" id="{E646B3DC-ADC5-3994-2424-307ACD77EC8F}"/>
              </a:ext>
            </a:extLst>
          </p:cNvPr>
          <p:cNvSpPr txBox="1"/>
          <p:nvPr/>
        </p:nvSpPr>
        <p:spPr>
          <a:xfrm>
            <a:off x="6722532" y="0"/>
            <a:ext cx="5494867" cy="923330"/>
          </a:xfrm>
          <a:prstGeom prst="rect">
            <a:avLst/>
          </a:prstGeom>
          <a:noFill/>
        </p:spPr>
        <p:txBody>
          <a:bodyPr wrap="square">
            <a:spAutoFit/>
          </a:bodyPr>
          <a:lstStyle/>
          <a:p>
            <a:r>
              <a:rPr lang="en-US" dirty="0">
                <a:hlinkClick r:id="rId4"/>
              </a:rPr>
              <a:t>https://archive.org/stream/grimmshouseholdt01grim/grimmshouseholdt01grim_djvu.txt</a:t>
            </a:r>
            <a:endParaRPr lang="en-US" dirty="0"/>
          </a:p>
          <a:p>
            <a:endParaRPr lang="en-US" dirty="0"/>
          </a:p>
        </p:txBody>
      </p:sp>
      <p:pic>
        <p:nvPicPr>
          <p:cNvPr id="10" name="Picture 9">
            <a:extLst>
              <a:ext uri="{FF2B5EF4-FFF2-40B4-BE49-F238E27FC236}">
                <a16:creationId xmlns:a16="http://schemas.microsoft.com/office/drawing/2014/main" id="{9A853760-6BBA-2C66-F691-D3A4AFFB3A9F}"/>
              </a:ext>
            </a:extLst>
          </p:cNvPr>
          <p:cNvPicPr>
            <a:picLocks noChangeAspect="1"/>
          </p:cNvPicPr>
          <p:nvPr/>
        </p:nvPicPr>
        <p:blipFill>
          <a:blip r:embed="rId5"/>
          <a:stretch>
            <a:fillRect/>
          </a:stretch>
        </p:blipFill>
        <p:spPr>
          <a:xfrm>
            <a:off x="6722532" y="931797"/>
            <a:ext cx="5203036" cy="5807670"/>
          </a:xfrm>
          <a:prstGeom prst="rect">
            <a:avLst/>
          </a:prstGeom>
        </p:spPr>
      </p:pic>
    </p:spTree>
    <p:extLst>
      <p:ext uri="{BB962C8B-B14F-4D97-AF65-F5344CB8AC3E}">
        <p14:creationId xmlns:p14="http://schemas.microsoft.com/office/powerpoint/2010/main" val="306804641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D768AFA-7D53-C45B-4572-61FED3D755F1}"/>
              </a:ext>
            </a:extLst>
          </p:cNvPr>
          <p:cNvSpPr txBox="1"/>
          <p:nvPr/>
        </p:nvSpPr>
        <p:spPr>
          <a:xfrm>
            <a:off x="0" y="0"/>
            <a:ext cx="7677150" cy="646331"/>
          </a:xfrm>
          <a:prstGeom prst="rect">
            <a:avLst/>
          </a:prstGeom>
          <a:noFill/>
        </p:spPr>
        <p:txBody>
          <a:bodyPr wrap="square">
            <a:spAutoFit/>
          </a:bodyPr>
          <a:lstStyle/>
          <a:p>
            <a:r>
              <a:rPr lang="en-US" dirty="0">
                <a:hlinkClick r:id="rId2"/>
              </a:rPr>
              <a:t>https://en.wikisource.org/wiki/Grimm%27s_Household_Tales,_Volume_1</a:t>
            </a:r>
            <a:endParaRPr lang="en-US" dirty="0"/>
          </a:p>
          <a:p>
            <a:endParaRPr lang="en-US" dirty="0"/>
          </a:p>
        </p:txBody>
      </p:sp>
      <p:pic>
        <p:nvPicPr>
          <p:cNvPr id="5" name="Picture 4">
            <a:extLst>
              <a:ext uri="{FF2B5EF4-FFF2-40B4-BE49-F238E27FC236}">
                <a16:creationId xmlns:a16="http://schemas.microsoft.com/office/drawing/2014/main" id="{252E3E28-6E22-1FA8-9A75-C57517AC1DDA}"/>
              </a:ext>
            </a:extLst>
          </p:cNvPr>
          <p:cNvPicPr>
            <a:picLocks noChangeAspect="1"/>
          </p:cNvPicPr>
          <p:nvPr/>
        </p:nvPicPr>
        <p:blipFill>
          <a:blip r:embed="rId3"/>
          <a:stretch>
            <a:fillRect/>
          </a:stretch>
        </p:blipFill>
        <p:spPr>
          <a:xfrm>
            <a:off x="2714450" y="539118"/>
            <a:ext cx="7991650" cy="6033132"/>
          </a:xfrm>
          <a:prstGeom prst="rect">
            <a:avLst/>
          </a:prstGeom>
        </p:spPr>
      </p:pic>
    </p:spTree>
    <p:extLst>
      <p:ext uri="{BB962C8B-B14F-4D97-AF65-F5344CB8AC3E}">
        <p14:creationId xmlns:p14="http://schemas.microsoft.com/office/powerpoint/2010/main" val="257325935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98607E7-1FA7-B70C-67FD-131D3F7EA4C4}"/>
              </a:ext>
            </a:extLst>
          </p:cNvPr>
          <p:cNvPicPr>
            <a:picLocks noChangeAspect="1"/>
          </p:cNvPicPr>
          <p:nvPr/>
        </p:nvPicPr>
        <p:blipFill>
          <a:blip r:embed="rId2"/>
          <a:stretch>
            <a:fillRect/>
          </a:stretch>
        </p:blipFill>
        <p:spPr>
          <a:xfrm>
            <a:off x="148484" y="209551"/>
            <a:ext cx="6718246" cy="6201458"/>
          </a:xfrm>
          <a:prstGeom prst="rect">
            <a:avLst/>
          </a:prstGeom>
        </p:spPr>
      </p:pic>
      <p:pic>
        <p:nvPicPr>
          <p:cNvPr id="5" name="Picture 4">
            <a:extLst>
              <a:ext uri="{FF2B5EF4-FFF2-40B4-BE49-F238E27FC236}">
                <a16:creationId xmlns:a16="http://schemas.microsoft.com/office/drawing/2014/main" id="{A2E16FA3-BEDC-9CE1-696F-1F4DCD8D4257}"/>
              </a:ext>
            </a:extLst>
          </p:cNvPr>
          <p:cNvPicPr>
            <a:picLocks noChangeAspect="1"/>
          </p:cNvPicPr>
          <p:nvPr/>
        </p:nvPicPr>
        <p:blipFill>
          <a:blip r:embed="rId3"/>
          <a:stretch>
            <a:fillRect/>
          </a:stretch>
        </p:blipFill>
        <p:spPr>
          <a:xfrm>
            <a:off x="6985741" y="-16996"/>
            <a:ext cx="5057775" cy="6404977"/>
          </a:xfrm>
          <a:prstGeom prst="rect">
            <a:avLst/>
          </a:prstGeom>
        </p:spPr>
      </p:pic>
      <p:sp>
        <p:nvSpPr>
          <p:cNvPr id="7" name="TextBox 6">
            <a:extLst>
              <a:ext uri="{FF2B5EF4-FFF2-40B4-BE49-F238E27FC236}">
                <a16:creationId xmlns:a16="http://schemas.microsoft.com/office/drawing/2014/main" id="{916FE8FB-42F4-9FB2-1630-50966C59C661}"/>
              </a:ext>
            </a:extLst>
          </p:cNvPr>
          <p:cNvSpPr txBox="1"/>
          <p:nvPr/>
        </p:nvSpPr>
        <p:spPr>
          <a:xfrm>
            <a:off x="66675" y="6411009"/>
            <a:ext cx="11372850" cy="646331"/>
          </a:xfrm>
          <a:prstGeom prst="rect">
            <a:avLst/>
          </a:prstGeom>
          <a:noFill/>
        </p:spPr>
        <p:txBody>
          <a:bodyPr wrap="square">
            <a:spAutoFit/>
          </a:bodyPr>
          <a:lstStyle/>
          <a:p>
            <a:r>
              <a:rPr lang="en-US" dirty="0">
                <a:hlinkClick r:id="rId4"/>
              </a:rPr>
              <a:t>https://dn720305.ca.archive.org/0/items/grimmshouseholdt01grim/grimmshouseholdt01grim.pdf</a:t>
            </a:r>
            <a:endParaRPr lang="en-US" dirty="0"/>
          </a:p>
          <a:p>
            <a:endParaRPr lang="en-US" dirty="0"/>
          </a:p>
        </p:txBody>
      </p:sp>
    </p:spTree>
    <p:extLst>
      <p:ext uri="{BB962C8B-B14F-4D97-AF65-F5344CB8AC3E}">
        <p14:creationId xmlns:p14="http://schemas.microsoft.com/office/powerpoint/2010/main" val="91093934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0E698DCA-2B95-104C-7F61-4C865FBA90C6}"/>
              </a:ext>
            </a:extLst>
          </p:cNvPr>
          <p:cNvSpPr txBox="1"/>
          <p:nvPr/>
        </p:nvSpPr>
        <p:spPr>
          <a:xfrm>
            <a:off x="4844295" y="70037"/>
            <a:ext cx="2051805" cy="2862322"/>
          </a:xfrm>
          <a:prstGeom prst="rect">
            <a:avLst/>
          </a:prstGeom>
          <a:noFill/>
        </p:spPr>
        <p:txBody>
          <a:bodyPr wrap="square">
            <a:spAutoFit/>
          </a:bodyPr>
          <a:lstStyle/>
          <a:p>
            <a:r>
              <a:rPr lang="en-US" dirty="0">
                <a:hlinkClick r:id="rId2"/>
              </a:rPr>
              <a:t>https://archive.org/details/grimmshouseholdt01grim#:~:text=Grimm%27s%20household%20tales%20%3A%20with,Bell%20and%20sons%2C%20limited</a:t>
            </a:r>
            <a:endParaRPr lang="en-US" dirty="0"/>
          </a:p>
          <a:p>
            <a:endParaRPr lang="en-US" dirty="0"/>
          </a:p>
        </p:txBody>
      </p:sp>
      <p:pic>
        <p:nvPicPr>
          <p:cNvPr id="8" name="Picture 7">
            <a:extLst>
              <a:ext uri="{FF2B5EF4-FFF2-40B4-BE49-F238E27FC236}">
                <a16:creationId xmlns:a16="http://schemas.microsoft.com/office/drawing/2014/main" id="{B4981B9D-26F7-7C2C-8546-5BF5F6B15D8A}"/>
              </a:ext>
            </a:extLst>
          </p:cNvPr>
          <p:cNvPicPr>
            <a:picLocks noChangeAspect="1"/>
          </p:cNvPicPr>
          <p:nvPr/>
        </p:nvPicPr>
        <p:blipFill>
          <a:blip r:embed="rId3"/>
          <a:stretch>
            <a:fillRect/>
          </a:stretch>
        </p:blipFill>
        <p:spPr>
          <a:xfrm>
            <a:off x="172403" y="70037"/>
            <a:ext cx="4499490" cy="6787963"/>
          </a:xfrm>
          <a:prstGeom prst="rect">
            <a:avLst/>
          </a:prstGeom>
        </p:spPr>
      </p:pic>
      <p:pic>
        <p:nvPicPr>
          <p:cNvPr id="12" name="Picture 11">
            <a:extLst>
              <a:ext uri="{FF2B5EF4-FFF2-40B4-BE49-F238E27FC236}">
                <a16:creationId xmlns:a16="http://schemas.microsoft.com/office/drawing/2014/main" id="{86081FCA-BDBB-F8BF-5B53-2DC8D033F8F7}"/>
              </a:ext>
            </a:extLst>
          </p:cNvPr>
          <p:cNvPicPr>
            <a:picLocks noChangeAspect="1"/>
          </p:cNvPicPr>
          <p:nvPr/>
        </p:nvPicPr>
        <p:blipFill>
          <a:blip r:embed="rId4"/>
          <a:stretch>
            <a:fillRect/>
          </a:stretch>
        </p:blipFill>
        <p:spPr>
          <a:xfrm>
            <a:off x="7307655" y="70037"/>
            <a:ext cx="4711942" cy="6458282"/>
          </a:xfrm>
          <a:prstGeom prst="rect">
            <a:avLst/>
          </a:prstGeom>
        </p:spPr>
      </p:pic>
    </p:spTree>
    <p:extLst>
      <p:ext uri="{BB962C8B-B14F-4D97-AF65-F5344CB8AC3E}">
        <p14:creationId xmlns:p14="http://schemas.microsoft.com/office/powerpoint/2010/main" val="342671700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10CE2F-5D1F-EDC6-EEA9-3479F7473E95}"/>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C476CD65-0F92-86F3-02A0-F72EE244DB0E}"/>
              </a:ext>
            </a:extLst>
          </p:cNvPr>
          <p:cNvPicPr>
            <a:picLocks noChangeAspect="1"/>
          </p:cNvPicPr>
          <p:nvPr/>
        </p:nvPicPr>
        <p:blipFill>
          <a:blip r:embed="rId2"/>
          <a:stretch>
            <a:fillRect/>
          </a:stretch>
        </p:blipFill>
        <p:spPr>
          <a:xfrm>
            <a:off x="6654679" y="199859"/>
            <a:ext cx="4711942" cy="6458282"/>
          </a:xfrm>
          <a:prstGeom prst="rect">
            <a:avLst/>
          </a:prstGeom>
        </p:spPr>
      </p:pic>
      <p:pic>
        <p:nvPicPr>
          <p:cNvPr id="10" name="Picture 9">
            <a:extLst>
              <a:ext uri="{FF2B5EF4-FFF2-40B4-BE49-F238E27FC236}">
                <a16:creationId xmlns:a16="http://schemas.microsoft.com/office/drawing/2014/main" id="{D7BDAC25-6885-3A48-0380-E641D11B7A2C}"/>
              </a:ext>
            </a:extLst>
          </p:cNvPr>
          <p:cNvPicPr>
            <a:picLocks noChangeAspect="1"/>
          </p:cNvPicPr>
          <p:nvPr/>
        </p:nvPicPr>
        <p:blipFill>
          <a:blip r:embed="rId3"/>
          <a:stretch>
            <a:fillRect/>
          </a:stretch>
        </p:blipFill>
        <p:spPr>
          <a:xfrm>
            <a:off x="825380" y="199859"/>
            <a:ext cx="4711942" cy="6458282"/>
          </a:xfrm>
          <a:prstGeom prst="rect">
            <a:avLst/>
          </a:prstGeom>
        </p:spPr>
      </p:pic>
    </p:spTree>
    <p:extLst>
      <p:ext uri="{BB962C8B-B14F-4D97-AF65-F5344CB8AC3E}">
        <p14:creationId xmlns:p14="http://schemas.microsoft.com/office/powerpoint/2010/main" val="31269936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2DCF49E-08D2-4A51-CC1F-66694050601E}"/>
              </a:ext>
            </a:extLst>
          </p:cNvPr>
          <p:cNvPicPr>
            <a:picLocks noChangeAspect="1"/>
          </p:cNvPicPr>
          <p:nvPr/>
        </p:nvPicPr>
        <p:blipFill>
          <a:blip r:embed="rId2"/>
          <a:stretch>
            <a:fillRect/>
          </a:stretch>
        </p:blipFill>
        <p:spPr>
          <a:xfrm>
            <a:off x="6826129" y="199859"/>
            <a:ext cx="4711942" cy="6458282"/>
          </a:xfrm>
          <a:prstGeom prst="rect">
            <a:avLst/>
          </a:prstGeom>
        </p:spPr>
      </p:pic>
      <p:pic>
        <p:nvPicPr>
          <p:cNvPr id="4" name="Picture 3">
            <a:extLst>
              <a:ext uri="{FF2B5EF4-FFF2-40B4-BE49-F238E27FC236}">
                <a16:creationId xmlns:a16="http://schemas.microsoft.com/office/drawing/2014/main" id="{3657A7E3-78A3-9B44-7B74-2EC210EDA01D}"/>
              </a:ext>
            </a:extLst>
          </p:cNvPr>
          <p:cNvPicPr>
            <a:picLocks noChangeAspect="1"/>
          </p:cNvPicPr>
          <p:nvPr/>
        </p:nvPicPr>
        <p:blipFill>
          <a:blip r:embed="rId3"/>
          <a:stretch>
            <a:fillRect/>
          </a:stretch>
        </p:blipFill>
        <p:spPr>
          <a:xfrm>
            <a:off x="1015879" y="199859"/>
            <a:ext cx="4711942" cy="6458282"/>
          </a:xfrm>
          <a:prstGeom prst="rect">
            <a:avLst/>
          </a:prstGeom>
        </p:spPr>
      </p:pic>
    </p:spTree>
    <p:extLst>
      <p:ext uri="{BB962C8B-B14F-4D97-AF65-F5344CB8AC3E}">
        <p14:creationId xmlns:p14="http://schemas.microsoft.com/office/powerpoint/2010/main" val="297988262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BE3A990-D805-F641-56BB-DC9E57733262}"/>
              </a:ext>
            </a:extLst>
          </p:cNvPr>
          <p:cNvSpPr txBox="1"/>
          <p:nvPr/>
        </p:nvSpPr>
        <p:spPr>
          <a:xfrm>
            <a:off x="-1" y="0"/>
            <a:ext cx="9089817" cy="369332"/>
          </a:xfrm>
          <a:prstGeom prst="rect">
            <a:avLst/>
          </a:prstGeom>
          <a:noFill/>
        </p:spPr>
        <p:txBody>
          <a:bodyPr wrap="square">
            <a:spAutoFit/>
          </a:bodyPr>
          <a:lstStyle/>
          <a:p>
            <a:r>
              <a:rPr lang="en-US" dirty="0">
                <a:hlinkClick r:id="rId2"/>
              </a:rPr>
              <a:t>https://archive.org/stream/grimmshouseholdt01grim/grimmshouseholdt01grim_djvu.txt</a:t>
            </a:r>
            <a:endParaRPr lang="en-US" dirty="0"/>
          </a:p>
        </p:txBody>
      </p:sp>
      <p:sp>
        <p:nvSpPr>
          <p:cNvPr id="11" name="TextBox 10">
            <a:extLst>
              <a:ext uri="{FF2B5EF4-FFF2-40B4-BE49-F238E27FC236}">
                <a16:creationId xmlns:a16="http://schemas.microsoft.com/office/drawing/2014/main" id="{E61CC8F4-4368-D9EE-3AC2-DFFE321142A0}"/>
              </a:ext>
            </a:extLst>
          </p:cNvPr>
          <p:cNvSpPr txBox="1"/>
          <p:nvPr/>
        </p:nvSpPr>
        <p:spPr>
          <a:xfrm>
            <a:off x="433388" y="506283"/>
            <a:ext cx="6310312" cy="19790033"/>
          </a:xfrm>
          <a:prstGeom prst="rect">
            <a:avLst/>
          </a:prstGeom>
          <a:noFill/>
        </p:spPr>
        <p:txBody>
          <a:bodyPr wrap="square">
            <a:spAutoFit/>
          </a:bodyPr>
          <a:lstStyle/>
          <a:p>
            <a:r>
              <a:rPr lang="en-US" sz="1000" dirty="0"/>
              <a:t>5.— THE  WOLF  AND  THE  SEVEN  LITTLE  KIDS. </a:t>
            </a:r>
          </a:p>
          <a:p>
            <a:endParaRPr lang="en-US" sz="1000" dirty="0"/>
          </a:p>
          <a:p>
            <a:r>
              <a:rPr lang="en-US" sz="1000" dirty="0" err="1"/>
              <a:t>Thkre</a:t>
            </a:r>
            <a:r>
              <a:rPr lang="en-US" sz="1000" dirty="0"/>
              <a:t>  was  once  on  a  time  an  old  goat  who  had  seven  little </a:t>
            </a:r>
          </a:p>
          <a:p>
            <a:r>
              <a:rPr lang="en-US" sz="1000" dirty="0"/>
              <a:t>kids,  and  loved  them  with  all  the  love  of  a  mother  for  her </a:t>
            </a:r>
          </a:p>
          <a:p>
            <a:r>
              <a:rPr lang="en-US" sz="1000" dirty="0"/>
              <a:t>children.  One  day  she  wanted  to  go  into  the  forest  and </a:t>
            </a:r>
          </a:p>
          <a:p>
            <a:r>
              <a:rPr lang="en-US" sz="1000" dirty="0"/>
              <a:t>fetch  some  food.  So  she  called  all  seven  to  her  and  said, </a:t>
            </a:r>
          </a:p>
          <a:p>
            <a:r>
              <a:rPr lang="en-US" sz="1000" dirty="0"/>
              <a:t>"  Dear  children,  I  have  to  go  into  the  forest,  be  on  your </a:t>
            </a:r>
          </a:p>
          <a:p>
            <a:r>
              <a:rPr lang="en-US" sz="1000" dirty="0"/>
              <a:t>guard  against. the  wolf;  if  he  come  in,  he  will  devour  you </a:t>
            </a:r>
          </a:p>
          <a:p>
            <a:r>
              <a:rPr lang="en-US" sz="1000" dirty="0"/>
              <a:t>all — skin,  hair,  and  all.  The  wretch  often  disguises </a:t>
            </a:r>
          </a:p>
          <a:p>
            <a:r>
              <a:rPr lang="en-US" sz="1000" dirty="0"/>
              <a:t>himself,  but  you  will  know  him  at  once  by  his  rough  voice </a:t>
            </a:r>
          </a:p>
          <a:p>
            <a:r>
              <a:rPr lang="en-US" sz="1000" dirty="0"/>
              <a:t>and  his  black  feet."  The  kids  said,  "  Dear  mother,  we </a:t>
            </a:r>
          </a:p>
          <a:p>
            <a:r>
              <a:rPr lang="en-US" sz="1000" dirty="0"/>
              <a:t>will   take   good    care    of  ourselves ;    you   may  go   away </a:t>
            </a:r>
          </a:p>
          <a:p>
            <a:endParaRPr lang="en-US" sz="1000" dirty="0"/>
          </a:p>
          <a:p>
            <a:endParaRPr lang="en-US" sz="1000" dirty="0"/>
          </a:p>
          <a:p>
            <a:r>
              <a:rPr lang="en-US" sz="1000" dirty="0"/>
              <a:t>Tale  5.]      THE  WOLF  AND  THE  SEVEN  LITTLE  KIDS.       21 </a:t>
            </a:r>
          </a:p>
          <a:p>
            <a:endParaRPr lang="en-US" sz="1000" dirty="0"/>
          </a:p>
          <a:p>
            <a:r>
              <a:rPr lang="en-US" sz="1000" dirty="0"/>
              <a:t>without  any  anxiety."     Then  the  old  one  bleated,    and </a:t>
            </a:r>
          </a:p>
          <a:p>
            <a:r>
              <a:rPr lang="en-US" sz="1000" dirty="0"/>
              <a:t>went  on  her  way  with  an  easy  mind. </a:t>
            </a:r>
          </a:p>
          <a:p>
            <a:endParaRPr lang="en-US" sz="1000" dirty="0"/>
          </a:p>
          <a:p>
            <a:r>
              <a:rPr lang="en-US" sz="1000" dirty="0"/>
              <a:t>It  was  not  long  before  some  one  knocked  at  the  house - </a:t>
            </a:r>
          </a:p>
          <a:p>
            <a:r>
              <a:rPr lang="en-US" sz="1000" dirty="0"/>
              <a:t>door  and  cried,  "Open  the  door,  dear  children;  your </a:t>
            </a:r>
          </a:p>
          <a:p>
            <a:r>
              <a:rPr lang="en-US" sz="1000" dirty="0"/>
              <a:t>mother  is  here,  and  has  brought  something  back  with  her </a:t>
            </a:r>
          </a:p>
          <a:p>
            <a:r>
              <a:rPr lang="en-US" sz="1000" dirty="0"/>
              <a:t>for  each  of  you."  But  the  little  kids  knew  that  it  was </a:t>
            </a:r>
          </a:p>
          <a:p>
            <a:r>
              <a:rPr lang="en-US" sz="1000" dirty="0"/>
              <a:t>the  wolf,  by  the  rough  voice  ;  "  We  will  not  open  the  door," </a:t>
            </a:r>
          </a:p>
          <a:p>
            <a:r>
              <a:rPr lang="en-US" sz="1000" dirty="0"/>
              <a:t>cried  they,  "  thou  art  not  our  mother.  She  has  a  soft, </a:t>
            </a:r>
          </a:p>
          <a:p>
            <a:r>
              <a:rPr lang="en-US" sz="1000" dirty="0"/>
              <a:t>pleasant  voice,  but  thy  voice  is  rough ;  thou  art  the </a:t>
            </a:r>
          </a:p>
          <a:p>
            <a:r>
              <a:rPr lang="en-US" sz="1000" dirty="0"/>
              <a:t>wolf  I  "  Then  the  wolf  went  away  to  a  shopkeeper  and </a:t>
            </a:r>
          </a:p>
          <a:p>
            <a:r>
              <a:rPr lang="en-US" sz="1000" dirty="0"/>
              <a:t>bought  himself  a  great  lump  of  chalk,  ate  this  and  made </a:t>
            </a:r>
          </a:p>
          <a:p>
            <a:r>
              <a:rPr lang="en-US" sz="1000" dirty="0"/>
              <a:t>his  voice  soft  with  it.  Then  he  came  back,  knocked  at  the </a:t>
            </a:r>
          </a:p>
          <a:p>
            <a:r>
              <a:rPr lang="en-US" sz="1000" dirty="0"/>
              <a:t>door  of  the  house,  and  cried,  "  Open  the  door,  dear </a:t>
            </a:r>
          </a:p>
          <a:p>
            <a:r>
              <a:rPr lang="en-US" sz="1000" dirty="0"/>
              <a:t>children,  jour  mother  is  here  and  has  brought  something </a:t>
            </a:r>
          </a:p>
          <a:p>
            <a:r>
              <a:rPr lang="en-US" sz="1000" dirty="0"/>
              <a:t>back  with  her  for  each  of  you."  But  the  wolf  had  laid  his </a:t>
            </a:r>
          </a:p>
          <a:p>
            <a:r>
              <a:rPr lang="en-US" sz="1000" dirty="0"/>
              <a:t>black  paws  against  the  window,  and  the  </a:t>
            </a:r>
            <a:r>
              <a:rPr lang="en-US" sz="1000" dirty="0" err="1"/>
              <a:t>chiklren</a:t>
            </a:r>
            <a:r>
              <a:rPr lang="en-US" sz="1000" dirty="0"/>
              <a:t>  saw  them </a:t>
            </a:r>
          </a:p>
          <a:p>
            <a:r>
              <a:rPr lang="en-US" sz="1000" dirty="0"/>
              <a:t>and  cried,  "  We  will  not  open  the  door,  our  mother  has  not </a:t>
            </a:r>
          </a:p>
          <a:p>
            <a:r>
              <a:rPr lang="en-US" sz="1000" dirty="0"/>
              <a:t>black  feet  like  thee  :  thou  art  the  wolf!  "  Then  the  wolf </a:t>
            </a:r>
          </a:p>
          <a:p>
            <a:r>
              <a:rPr lang="en-US" sz="1000" dirty="0"/>
              <a:t>ran  to  a  baker  and  said,  "  I  have  hurt  my  feet,  rub  some </a:t>
            </a:r>
          </a:p>
          <a:p>
            <a:r>
              <a:rPr lang="en-US" sz="1000" dirty="0"/>
              <a:t>dough  over  them  for  me."  And  when  the  baker  had </a:t>
            </a:r>
          </a:p>
          <a:p>
            <a:r>
              <a:rPr lang="en-US" sz="1000" dirty="0"/>
              <a:t>rubbed  his  feet  over,  he  ran  to  the  miller  and  said,  "  Strew </a:t>
            </a:r>
          </a:p>
          <a:p>
            <a:r>
              <a:rPr lang="en-US" sz="1000" dirty="0"/>
              <a:t>some  white  meal  over  my  feet  for  me."  The  miller </a:t>
            </a:r>
          </a:p>
          <a:p>
            <a:r>
              <a:rPr lang="en-US" sz="1000" dirty="0"/>
              <a:t>thought  to  himself,  "  The  wolf  wants  to  deceive  some  one," </a:t>
            </a:r>
          </a:p>
          <a:p>
            <a:r>
              <a:rPr lang="en-US" sz="1000" dirty="0"/>
              <a:t>and  refused ;  but  the  wolf  said,  "  If  thou  wilt  not  do  it,  I </a:t>
            </a:r>
          </a:p>
          <a:p>
            <a:r>
              <a:rPr lang="en-US" sz="1000" dirty="0"/>
              <a:t>will  devour  thee."  Then  the  miller  was  afraid,  and  made </a:t>
            </a:r>
          </a:p>
          <a:p>
            <a:r>
              <a:rPr lang="en-US" sz="1000" dirty="0"/>
              <a:t>his  paws  white  for  him.     Truly  men  are  like  that. </a:t>
            </a:r>
          </a:p>
          <a:p>
            <a:endParaRPr lang="en-US" sz="1000" dirty="0"/>
          </a:p>
          <a:p>
            <a:r>
              <a:rPr lang="en-US" sz="1000" dirty="0"/>
              <a:t>So  now  the  wretch  went  for  the  third  time  to  the  house- </a:t>
            </a:r>
          </a:p>
          <a:p>
            <a:r>
              <a:rPr lang="en-US" sz="1000" dirty="0"/>
              <a:t>door,  knocked  at  it  and  said,  "  Open  the  door  for  me, </a:t>
            </a:r>
          </a:p>
          <a:p>
            <a:r>
              <a:rPr lang="en-US" sz="1000" dirty="0"/>
              <a:t>children,  your  dear  little  mother  has  come  home,  and  has </a:t>
            </a:r>
          </a:p>
          <a:p>
            <a:r>
              <a:rPr lang="en-US" sz="1000" dirty="0"/>
              <a:t>brought  every  one  of  you  something  back  from  the  forest </a:t>
            </a:r>
          </a:p>
          <a:p>
            <a:r>
              <a:rPr lang="en-US" sz="1000" dirty="0"/>
              <a:t>with  her."  The  little  kids  cried,  "  First  show  us  thy  paws </a:t>
            </a:r>
          </a:p>
          <a:p>
            <a:r>
              <a:rPr lang="en-US" sz="1000" dirty="0"/>
              <a:t>that  we  may  know  if  thou  art  our  dear  little  mother." </a:t>
            </a:r>
          </a:p>
          <a:p>
            <a:r>
              <a:rPr lang="en-US" sz="1000" dirty="0"/>
              <a:t>Then  he  put  his  paws  in  through  the  window,  and  when </a:t>
            </a:r>
          </a:p>
          <a:p>
            <a:r>
              <a:rPr lang="en-US" sz="1000" dirty="0"/>
              <a:t>the  kids  saw  that  they  were  white,  they  believed  that  all </a:t>
            </a:r>
          </a:p>
          <a:p>
            <a:r>
              <a:rPr lang="en-US" sz="1000" dirty="0"/>
              <a:t>he  said  was  true,  and  opened  the  door.  But  who  should </a:t>
            </a:r>
          </a:p>
          <a:p>
            <a:r>
              <a:rPr lang="en-US" sz="1000" dirty="0"/>
              <a:t>come  in  but  the  wolf!  They  were  terrified  and  wanted </a:t>
            </a:r>
          </a:p>
          <a:p>
            <a:r>
              <a:rPr lang="en-US" sz="1000" dirty="0"/>
              <a:t>to  hide  themselves.  One  sprang  under  the  table,  the </a:t>
            </a:r>
          </a:p>
          <a:p>
            <a:r>
              <a:rPr lang="en-US" sz="1000" dirty="0"/>
              <a:t>second  into  the  bed,  the  third  into  the  stove,  the  fourth </a:t>
            </a:r>
          </a:p>
          <a:p>
            <a:r>
              <a:rPr lang="en-US" sz="1000" dirty="0"/>
              <a:t>into  the  kitchen,  the  fifth  into  the  cupboard,  the  sixth </a:t>
            </a:r>
          </a:p>
          <a:p>
            <a:r>
              <a:rPr lang="en-US" sz="1000" dirty="0"/>
              <a:t>under  the  washing-bowl,  and  the  seventh  into  the  clock- </a:t>
            </a:r>
          </a:p>
          <a:p>
            <a:r>
              <a:rPr lang="en-US" sz="1000" dirty="0"/>
              <a:t>case.     But  the  wolf  found  them   all,  and  used  no  great </a:t>
            </a:r>
          </a:p>
          <a:p>
            <a:endParaRPr lang="en-US" sz="1000" dirty="0"/>
          </a:p>
          <a:p>
            <a:endParaRPr lang="en-US" sz="1000" dirty="0"/>
          </a:p>
          <a:p>
            <a:r>
              <a:rPr lang="en-US" sz="1000" dirty="0"/>
              <a:t>22  GRIMM'S  HOUSEHOLD   TALES.  [Tale  5. </a:t>
            </a:r>
          </a:p>
          <a:p>
            <a:endParaRPr lang="en-US" sz="1000" dirty="0"/>
          </a:p>
          <a:p>
            <a:r>
              <a:rPr lang="en-US" sz="1000" dirty="0"/>
              <a:t>ceremony  ;  one  after  the  other  he  swallowed  them  down  his </a:t>
            </a:r>
          </a:p>
          <a:p>
            <a:r>
              <a:rPr lang="en-US" sz="1000" dirty="0"/>
              <a:t>throat.  The  youngest  in  the  clock-case  was  the  only  one </a:t>
            </a:r>
          </a:p>
          <a:p>
            <a:r>
              <a:rPr lang="en-US" sz="1000" dirty="0"/>
              <a:t>he  did  not  find.  When  the  wolf  had  satisfied  his  appetite </a:t>
            </a:r>
          </a:p>
          <a:p>
            <a:r>
              <a:rPr lang="en-US" sz="1000" dirty="0"/>
              <a:t>he  took  himself  off,  laid  himself  down  </a:t>
            </a:r>
            <a:r>
              <a:rPr lang="en-US" sz="1000" dirty="0" err="1"/>
              <a:t>nnder</a:t>
            </a:r>
            <a:r>
              <a:rPr lang="en-US" sz="1000" dirty="0"/>
              <a:t>  a  tree  in  the </a:t>
            </a:r>
          </a:p>
          <a:p>
            <a:r>
              <a:rPr lang="en-US" sz="1000" dirty="0"/>
              <a:t>green  meadow  outside,  and  began  to  sleep.  Soon  after- </a:t>
            </a:r>
          </a:p>
          <a:p>
            <a:r>
              <a:rPr lang="en-US" sz="1000" dirty="0"/>
              <a:t>Avards  the  old  goat  came  home  again  from  the  forest.  Ah  ! </a:t>
            </a:r>
          </a:p>
          <a:p>
            <a:r>
              <a:rPr lang="en-US" sz="1000" dirty="0"/>
              <a:t>what  a  sight  she  saw  there !  The  house-door  stood  wide </a:t>
            </a:r>
          </a:p>
          <a:p>
            <a:r>
              <a:rPr lang="en-US" sz="1000" dirty="0"/>
              <a:t>open.  The  table,  chairs,  and  benches  </a:t>
            </a:r>
            <a:r>
              <a:rPr lang="en-US" sz="1000" dirty="0" err="1"/>
              <a:t>w^ere</a:t>
            </a:r>
            <a:r>
              <a:rPr lang="en-US" sz="1000" dirty="0"/>
              <a:t>  thrown  down, </a:t>
            </a:r>
          </a:p>
          <a:p>
            <a:r>
              <a:rPr lang="en-US" sz="1000" dirty="0"/>
              <a:t>the  washing-bowl  lay  broken  to  pieces,  and  the  quilts  and </a:t>
            </a:r>
          </a:p>
          <a:p>
            <a:r>
              <a:rPr lang="en-US" sz="1000" dirty="0"/>
              <a:t>pillows  were  pulled  off  the  bed.  She  sought  her  children, </a:t>
            </a:r>
          </a:p>
          <a:p>
            <a:r>
              <a:rPr lang="en-US" sz="1000" dirty="0"/>
              <a:t>but  they  were  nowhere  to  be  found.  She  called  them  one </a:t>
            </a:r>
          </a:p>
          <a:p>
            <a:r>
              <a:rPr lang="en-US" sz="1000" dirty="0"/>
              <a:t>after  another  by  name,  but  no  one  answered.  At  last, </a:t>
            </a:r>
          </a:p>
          <a:p>
            <a:r>
              <a:rPr lang="en-US" sz="1000" dirty="0"/>
              <a:t>when  she  came  to  the  youngest,  a  soft  voice  cried,  "  Dear </a:t>
            </a:r>
          </a:p>
          <a:p>
            <a:r>
              <a:rPr lang="en-US" sz="1000" dirty="0"/>
              <a:t>mother,  I  am  in  the  clock-case."  She  took  the  kid  out, </a:t>
            </a:r>
          </a:p>
          <a:p>
            <a:r>
              <a:rPr lang="en-US" sz="1000" dirty="0"/>
              <a:t>and  it  told  her  that  the  wolf  had  come  and  had  eaten  all </a:t>
            </a:r>
          </a:p>
          <a:p>
            <a:r>
              <a:rPr lang="en-US" sz="1000" dirty="0"/>
              <a:t>the  others.  Then  you  may  imagine  how  she  wept  over </a:t>
            </a:r>
          </a:p>
          <a:p>
            <a:r>
              <a:rPr lang="en-US" sz="1000" dirty="0"/>
              <a:t>her  j)</a:t>
            </a:r>
            <a:r>
              <a:rPr lang="en-US" sz="1000" dirty="0" err="1"/>
              <a:t>Oor</a:t>
            </a:r>
            <a:r>
              <a:rPr lang="en-US" sz="1000" dirty="0"/>
              <a:t>  children. </a:t>
            </a:r>
          </a:p>
          <a:p>
            <a:endParaRPr lang="en-US" sz="1000" dirty="0"/>
          </a:p>
          <a:p>
            <a:r>
              <a:rPr lang="en-US" sz="1000" dirty="0"/>
              <a:t>At  length  in  her  grief  she  went  out,  and  the  youngest </a:t>
            </a:r>
          </a:p>
          <a:p>
            <a:r>
              <a:rPr lang="en-US" sz="1000" dirty="0"/>
              <a:t>kid  ran  with  her.     When  they  came  to  the  meadow,  there </a:t>
            </a:r>
          </a:p>
          <a:p>
            <a:r>
              <a:rPr lang="en-US" sz="1000" dirty="0"/>
              <a:t>lay  the   wolf  by  the  tree  and  snored  so  loud  that  the </a:t>
            </a:r>
          </a:p>
          <a:p>
            <a:r>
              <a:rPr lang="en-US" sz="1000" dirty="0"/>
              <a:t>branches  shook.     She  looked  at  him  on  every  side  and  saw </a:t>
            </a:r>
          </a:p>
          <a:p>
            <a:r>
              <a:rPr lang="en-US" sz="1000" dirty="0"/>
              <a:t>that  something  was  moving  and  struggling  in  his  gorged </a:t>
            </a:r>
          </a:p>
          <a:p>
            <a:r>
              <a:rPr lang="en-US" sz="1000" dirty="0"/>
              <a:t>body.     "  Ah,  heavens,"  said  she,  "  is  it  possible  that  my </a:t>
            </a:r>
          </a:p>
          <a:p>
            <a:r>
              <a:rPr lang="en-US" sz="1000" dirty="0"/>
              <a:t>j)</a:t>
            </a:r>
            <a:r>
              <a:rPr lang="en-US" sz="1000" dirty="0" err="1"/>
              <a:t>Oor</a:t>
            </a:r>
            <a:r>
              <a:rPr lang="en-US" sz="1000" dirty="0"/>
              <a:t>  children  whom  he  has  swallowed  down  for  his  supper, </a:t>
            </a:r>
          </a:p>
          <a:p>
            <a:r>
              <a:rPr lang="en-US" sz="1000" dirty="0"/>
              <a:t>can  be  still  alive?"     Then  the  kid  had  to  run  home  and </a:t>
            </a:r>
          </a:p>
          <a:p>
            <a:r>
              <a:rPr lang="en-US" sz="1000" dirty="0"/>
              <a:t>fetch   scissors,  and  a  needle  and  thread,  and  the  goat  cut </a:t>
            </a:r>
          </a:p>
          <a:p>
            <a:r>
              <a:rPr lang="en-US" sz="1000" dirty="0"/>
              <a:t>open  the  monster's  stomach,  and  hardly  had  she  made  one </a:t>
            </a:r>
          </a:p>
          <a:p>
            <a:r>
              <a:rPr lang="en-US" sz="1000" dirty="0"/>
              <a:t>cut,  than  one  little  kid  thrust  its  head  out,  and  when  she  had </a:t>
            </a:r>
          </a:p>
          <a:p>
            <a:r>
              <a:rPr lang="en-US" sz="1000" dirty="0"/>
              <a:t>cut  farther,  all  six  sprang  out  one  after  another,  and  were </a:t>
            </a:r>
          </a:p>
          <a:p>
            <a:r>
              <a:rPr lang="en-US" sz="1000" dirty="0"/>
              <a:t>all  still  alive,  and  had  suffered  no  injury  whatever,  for  in </a:t>
            </a:r>
          </a:p>
          <a:p>
            <a:r>
              <a:rPr lang="en-US" sz="1000" dirty="0"/>
              <a:t>his   greediness   the   monster  had  swallowed  them  down </a:t>
            </a:r>
          </a:p>
          <a:p>
            <a:r>
              <a:rPr lang="en-US" sz="1000" dirty="0"/>
              <a:t>whole.     What  rejoicing  there  was  !     Then  they  embraced </a:t>
            </a:r>
          </a:p>
          <a:p>
            <a:r>
              <a:rPr lang="en-US" sz="1000" dirty="0"/>
              <a:t>their  dear  mother,  and  jumped  like  a  tailor  at  his  wedding. </a:t>
            </a:r>
          </a:p>
          <a:p>
            <a:r>
              <a:rPr lang="en-US" sz="1000" dirty="0"/>
              <a:t>The  mother,  however,  said,  "  Now  go  and  look  for  some  </a:t>
            </a:r>
            <a:r>
              <a:rPr lang="en-US" sz="1000" dirty="0" err="1"/>
              <a:t>bigj</a:t>
            </a:r>
            <a:r>
              <a:rPr lang="en-US" sz="1000" dirty="0"/>
              <a:t> </a:t>
            </a:r>
          </a:p>
          <a:p>
            <a:r>
              <a:rPr lang="en-US" sz="1000" dirty="0"/>
              <a:t>stones,  and  we  will  fill  the  wicked  beast's  stomach  with! </a:t>
            </a:r>
          </a:p>
          <a:p>
            <a:r>
              <a:rPr lang="en-US" sz="1000" dirty="0"/>
              <a:t>them   </a:t>
            </a:r>
            <a:r>
              <a:rPr lang="en-US" sz="1000" dirty="0" err="1"/>
              <a:t>Avhile</a:t>
            </a:r>
            <a:r>
              <a:rPr lang="en-US" sz="1000" dirty="0"/>
              <a:t>   he   is    still  asleep."      Then  the  seven  </a:t>
            </a:r>
            <a:r>
              <a:rPr lang="en-US" sz="1000" dirty="0" err="1"/>
              <a:t>kidsj</a:t>
            </a:r>
            <a:r>
              <a:rPr lang="en-US" sz="1000" dirty="0"/>
              <a:t> </a:t>
            </a:r>
          </a:p>
          <a:p>
            <a:r>
              <a:rPr lang="en-US" sz="1000" dirty="0"/>
              <a:t>dragged  the  stones  thither  with  all  speed,  and  put  as  many] </a:t>
            </a:r>
          </a:p>
          <a:p>
            <a:r>
              <a:rPr lang="en-US" sz="1000" dirty="0"/>
              <a:t>of  them  into  his  stomach  as  they  could  get  in  ;  and  the! </a:t>
            </a:r>
          </a:p>
          <a:p>
            <a:r>
              <a:rPr lang="en-US" sz="1000" dirty="0"/>
              <a:t>mother  sewed  him  up  again  in  the  greatest  haste,  so  </a:t>
            </a:r>
            <a:r>
              <a:rPr lang="en-US" sz="1000" dirty="0" err="1"/>
              <a:t>thatj</a:t>
            </a:r>
            <a:r>
              <a:rPr lang="en-US" sz="1000" dirty="0"/>
              <a:t> </a:t>
            </a:r>
          </a:p>
          <a:p>
            <a:r>
              <a:rPr lang="en-US" sz="1000" dirty="0"/>
              <a:t>he  was  not  aware  of  anything  and  never  once  stirred. </a:t>
            </a:r>
          </a:p>
          <a:p>
            <a:endParaRPr lang="en-US" sz="1000" dirty="0"/>
          </a:p>
          <a:p>
            <a:r>
              <a:rPr lang="en-US" sz="1000" dirty="0"/>
              <a:t>When  the  wolf  at  length  had  had  his  sleep  out,  he  </a:t>
            </a:r>
            <a:r>
              <a:rPr lang="en-US" sz="1000" dirty="0" err="1"/>
              <a:t>gotj</a:t>
            </a:r>
            <a:r>
              <a:rPr lang="en-US" sz="1000" dirty="0"/>
              <a:t> </a:t>
            </a:r>
          </a:p>
          <a:p>
            <a:endParaRPr lang="en-US" sz="1000" dirty="0"/>
          </a:p>
          <a:p>
            <a:endParaRPr lang="en-US" sz="1000" dirty="0"/>
          </a:p>
          <a:p>
            <a:r>
              <a:rPr lang="en-US" sz="1000" dirty="0"/>
              <a:t>Tale  6.]  FAITHFUL   JOHN.  23 </a:t>
            </a:r>
          </a:p>
          <a:p>
            <a:endParaRPr lang="en-US" sz="1000" dirty="0"/>
          </a:p>
          <a:p>
            <a:r>
              <a:rPr lang="en-US" sz="1000" dirty="0"/>
              <a:t>on  his  legs,  and  as  the  stones  in  his  stomach  made  him  very- </a:t>
            </a:r>
          </a:p>
          <a:p>
            <a:r>
              <a:rPr lang="en-US" sz="1000" dirty="0"/>
              <a:t>thirsty,  he  wanted  to  go  to  a  well  to  drink.  But  when  he </a:t>
            </a:r>
          </a:p>
          <a:p>
            <a:r>
              <a:rPr lang="en-US" sz="1000" dirty="0"/>
              <a:t>began  to  walk  and  to  move  about,  the  stones  in  his </a:t>
            </a:r>
          </a:p>
          <a:p>
            <a:r>
              <a:rPr lang="en-US" sz="1000" dirty="0"/>
              <a:t>stomach  knocked  against  each  other  and  rattled.  Then </a:t>
            </a:r>
          </a:p>
          <a:p>
            <a:r>
              <a:rPr lang="en-US" sz="1000" dirty="0"/>
              <a:t>cried  he, </a:t>
            </a:r>
          </a:p>
          <a:p>
            <a:endParaRPr lang="en-US" sz="1000" dirty="0"/>
          </a:p>
          <a:p>
            <a:r>
              <a:rPr lang="en-US" sz="1000" dirty="0"/>
              <a:t>"  </a:t>
            </a:r>
            <a:r>
              <a:rPr lang="en-US" sz="1000" dirty="0" err="1"/>
              <a:t>Whnt</a:t>
            </a:r>
            <a:r>
              <a:rPr lang="en-US" sz="1000" dirty="0"/>
              <a:t>  rumbles  and  tumbles </a:t>
            </a:r>
          </a:p>
          <a:p>
            <a:r>
              <a:rPr lang="en-US" sz="1000" dirty="0" err="1"/>
              <a:t>Ai^ainst</a:t>
            </a:r>
            <a:r>
              <a:rPr lang="en-US" sz="1000" dirty="0"/>
              <a:t>  my  poor  bones V </a:t>
            </a:r>
          </a:p>
          <a:p>
            <a:r>
              <a:rPr lang="en-US" sz="1000" dirty="0"/>
              <a:t>I  </a:t>
            </a:r>
            <a:r>
              <a:rPr lang="en-US" sz="1000" dirty="0" err="1"/>
              <a:t>tlioui^iit</a:t>
            </a:r>
            <a:r>
              <a:rPr lang="en-US" sz="1000" dirty="0"/>
              <a:t>  'twas  six  kids, </a:t>
            </a:r>
          </a:p>
          <a:p>
            <a:r>
              <a:rPr lang="en-US" sz="1000" dirty="0"/>
              <a:t>But  it's  naught  but  big  stones." </a:t>
            </a:r>
          </a:p>
          <a:p>
            <a:endParaRPr lang="en-US" sz="1000" dirty="0"/>
          </a:p>
          <a:p>
            <a:r>
              <a:rPr lang="en-US" sz="1000" dirty="0"/>
              <a:t>And  when  he  got  to  the  well  and  stooped  over  the  water </a:t>
            </a:r>
          </a:p>
          <a:p>
            <a:r>
              <a:rPr lang="en-US" sz="1000" dirty="0"/>
              <a:t>f&gt;</a:t>
            </a:r>
            <a:r>
              <a:rPr lang="en-US" sz="1000" dirty="0" err="1"/>
              <a:t>nd</a:t>
            </a:r>
            <a:r>
              <a:rPr lang="en-US" sz="1000" dirty="0"/>
              <a:t>  was  just  about  to  drink,  the  heavy  stones  made  him </a:t>
            </a:r>
          </a:p>
          <a:p>
            <a:r>
              <a:rPr lang="en-US" sz="1000" dirty="0"/>
              <a:t>fall  in  and  there  was  no  help,  but  he  had  to  drown </a:t>
            </a:r>
          </a:p>
          <a:p>
            <a:r>
              <a:rPr lang="en-US" sz="1000" dirty="0"/>
              <a:t>miserably.  When  the  seven  kids  saw  that,  they  came </a:t>
            </a:r>
          </a:p>
          <a:p>
            <a:r>
              <a:rPr lang="en-US" sz="1000" dirty="0"/>
              <a:t>running  to  the  spot  and  cried  aloud,  "The  wolf  is  dead! </a:t>
            </a:r>
          </a:p>
          <a:p>
            <a:r>
              <a:rPr lang="en-US" sz="1000" dirty="0"/>
              <a:t>The  wolf  is  dead !  "  and  danced  for  joy  round  about  the </a:t>
            </a:r>
          </a:p>
          <a:p>
            <a:r>
              <a:rPr lang="en-US" sz="1000" dirty="0"/>
              <a:t>Avell  with  their  mother</a:t>
            </a:r>
          </a:p>
        </p:txBody>
      </p:sp>
    </p:spTree>
    <p:extLst>
      <p:ext uri="{BB962C8B-B14F-4D97-AF65-F5344CB8AC3E}">
        <p14:creationId xmlns:p14="http://schemas.microsoft.com/office/powerpoint/2010/main" val="311450382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6158478-FAC4-38DA-45B0-49563BE98C4B}"/>
              </a:ext>
            </a:extLst>
          </p:cNvPr>
          <p:cNvSpPr txBox="1"/>
          <p:nvPr/>
        </p:nvSpPr>
        <p:spPr>
          <a:xfrm>
            <a:off x="0" y="202870"/>
            <a:ext cx="8335926" cy="923330"/>
          </a:xfrm>
          <a:prstGeom prst="rect">
            <a:avLst/>
          </a:prstGeom>
          <a:noFill/>
        </p:spPr>
        <p:txBody>
          <a:bodyPr wrap="square">
            <a:spAutoFit/>
          </a:bodyPr>
          <a:lstStyle/>
          <a:p>
            <a:r>
              <a:rPr lang="en-US" dirty="0">
                <a:hlinkClick r:id="rId2"/>
              </a:rPr>
              <a:t>http://www.zeno.org/Literatur/M/Grimm,+Jacob+und+Wilhelm/M%C3%A4rchen/Kinder-+und+Hausm%C3%A4rchen</a:t>
            </a:r>
            <a:endParaRPr lang="en-US" dirty="0"/>
          </a:p>
          <a:p>
            <a:endParaRPr lang="en-US" dirty="0"/>
          </a:p>
        </p:txBody>
      </p:sp>
      <p:sp>
        <p:nvSpPr>
          <p:cNvPr id="7" name="TextBox 6">
            <a:extLst>
              <a:ext uri="{FF2B5EF4-FFF2-40B4-BE49-F238E27FC236}">
                <a16:creationId xmlns:a16="http://schemas.microsoft.com/office/drawing/2014/main" id="{A268DB6E-AFA9-AB9D-4455-A5E178B0877E}"/>
              </a:ext>
            </a:extLst>
          </p:cNvPr>
          <p:cNvSpPr txBox="1"/>
          <p:nvPr/>
        </p:nvSpPr>
        <p:spPr>
          <a:xfrm>
            <a:off x="4838700" y="1126200"/>
            <a:ext cx="6121400" cy="1477328"/>
          </a:xfrm>
          <a:prstGeom prst="rect">
            <a:avLst/>
          </a:prstGeom>
          <a:noFill/>
        </p:spPr>
        <p:txBody>
          <a:bodyPr wrap="square">
            <a:spAutoFit/>
          </a:bodyPr>
          <a:lstStyle/>
          <a:p>
            <a:r>
              <a:rPr lang="en-US" dirty="0">
                <a:hlinkClick r:id="rId3"/>
              </a:rPr>
              <a:t>http://www.zeno.org/Literatur/M/Grimm,+Jacob+und+Wilhelm/M%C3%A4rchen/Kinder-+und+Hausm%C3%A4rchen/1.+Der+Froschk%C3%B6nig+oder+der+eiserne+Heinrich</a:t>
            </a:r>
            <a:endParaRPr lang="en-US" dirty="0"/>
          </a:p>
          <a:p>
            <a:endParaRPr lang="en-US" dirty="0"/>
          </a:p>
        </p:txBody>
      </p:sp>
      <p:pic>
        <p:nvPicPr>
          <p:cNvPr id="9" name="Picture 8">
            <a:extLst>
              <a:ext uri="{FF2B5EF4-FFF2-40B4-BE49-F238E27FC236}">
                <a16:creationId xmlns:a16="http://schemas.microsoft.com/office/drawing/2014/main" id="{E0554AAF-F15B-C1C2-9F4F-B002728B0A3A}"/>
              </a:ext>
            </a:extLst>
          </p:cNvPr>
          <p:cNvPicPr>
            <a:picLocks noChangeAspect="1"/>
          </p:cNvPicPr>
          <p:nvPr/>
        </p:nvPicPr>
        <p:blipFill>
          <a:blip r:embed="rId4"/>
          <a:stretch>
            <a:fillRect/>
          </a:stretch>
        </p:blipFill>
        <p:spPr>
          <a:xfrm>
            <a:off x="4838700" y="2768916"/>
            <a:ext cx="7353300" cy="3860483"/>
          </a:xfrm>
          <a:prstGeom prst="rect">
            <a:avLst/>
          </a:prstGeom>
        </p:spPr>
      </p:pic>
      <p:pic>
        <p:nvPicPr>
          <p:cNvPr id="11" name="Picture 10">
            <a:extLst>
              <a:ext uri="{FF2B5EF4-FFF2-40B4-BE49-F238E27FC236}">
                <a16:creationId xmlns:a16="http://schemas.microsoft.com/office/drawing/2014/main" id="{FE66A890-6711-4599-6B20-81679C58A0A2}"/>
              </a:ext>
            </a:extLst>
          </p:cNvPr>
          <p:cNvPicPr>
            <a:picLocks noChangeAspect="1"/>
          </p:cNvPicPr>
          <p:nvPr/>
        </p:nvPicPr>
        <p:blipFill>
          <a:blip r:embed="rId5"/>
          <a:srcRect l="19210" r="31797"/>
          <a:stretch/>
        </p:blipFill>
        <p:spPr>
          <a:xfrm>
            <a:off x="370501" y="1126200"/>
            <a:ext cx="3688049" cy="5712761"/>
          </a:xfrm>
          <a:prstGeom prst="rect">
            <a:avLst/>
          </a:prstGeom>
        </p:spPr>
      </p:pic>
    </p:spTree>
    <p:extLst>
      <p:ext uri="{BB962C8B-B14F-4D97-AF65-F5344CB8AC3E}">
        <p14:creationId xmlns:p14="http://schemas.microsoft.com/office/powerpoint/2010/main" val="211616694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AC8A474-4FAF-6358-32F9-27814432F260}"/>
              </a:ext>
            </a:extLst>
          </p:cNvPr>
          <p:cNvSpPr txBox="1"/>
          <p:nvPr/>
        </p:nvSpPr>
        <p:spPr>
          <a:xfrm>
            <a:off x="152400" y="176368"/>
            <a:ext cx="10109200" cy="646331"/>
          </a:xfrm>
          <a:prstGeom prst="rect">
            <a:avLst/>
          </a:prstGeom>
          <a:noFill/>
        </p:spPr>
        <p:txBody>
          <a:bodyPr wrap="square">
            <a:spAutoFit/>
          </a:bodyPr>
          <a:lstStyle/>
          <a:p>
            <a:r>
              <a:rPr lang="en-US" dirty="0">
                <a:hlinkClick r:id="rId2"/>
              </a:rPr>
              <a:t>https://books.google.com/books?id=y9tLAAAAIAAJ&amp;pg=PA1#v=onepage&amp;q&amp;f=false</a:t>
            </a:r>
            <a:endParaRPr lang="en-US" dirty="0"/>
          </a:p>
          <a:p>
            <a:endParaRPr lang="en-US" dirty="0"/>
          </a:p>
        </p:txBody>
      </p:sp>
      <p:pic>
        <p:nvPicPr>
          <p:cNvPr id="7" name="Picture 6">
            <a:extLst>
              <a:ext uri="{FF2B5EF4-FFF2-40B4-BE49-F238E27FC236}">
                <a16:creationId xmlns:a16="http://schemas.microsoft.com/office/drawing/2014/main" id="{946719D2-08E9-F328-2460-44154A50FA89}"/>
              </a:ext>
            </a:extLst>
          </p:cNvPr>
          <p:cNvPicPr>
            <a:picLocks noChangeAspect="1"/>
          </p:cNvPicPr>
          <p:nvPr/>
        </p:nvPicPr>
        <p:blipFill>
          <a:blip r:embed="rId3"/>
          <a:stretch>
            <a:fillRect/>
          </a:stretch>
        </p:blipFill>
        <p:spPr>
          <a:xfrm>
            <a:off x="152400" y="591813"/>
            <a:ext cx="6260287" cy="6089819"/>
          </a:xfrm>
          <a:prstGeom prst="rect">
            <a:avLst/>
          </a:prstGeom>
        </p:spPr>
      </p:pic>
      <p:pic>
        <p:nvPicPr>
          <p:cNvPr id="9" name="Picture 8">
            <a:extLst>
              <a:ext uri="{FF2B5EF4-FFF2-40B4-BE49-F238E27FC236}">
                <a16:creationId xmlns:a16="http://schemas.microsoft.com/office/drawing/2014/main" id="{278327AC-0633-CA25-037F-F8A7C3106F86}"/>
              </a:ext>
            </a:extLst>
          </p:cNvPr>
          <p:cNvPicPr>
            <a:picLocks noChangeAspect="1"/>
          </p:cNvPicPr>
          <p:nvPr/>
        </p:nvPicPr>
        <p:blipFill>
          <a:blip r:embed="rId4"/>
          <a:stretch>
            <a:fillRect/>
          </a:stretch>
        </p:blipFill>
        <p:spPr>
          <a:xfrm>
            <a:off x="6778552" y="591813"/>
            <a:ext cx="4365698" cy="6043304"/>
          </a:xfrm>
          <a:prstGeom prst="rect">
            <a:avLst/>
          </a:prstGeom>
        </p:spPr>
      </p:pic>
    </p:spTree>
    <p:extLst>
      <p:ext uri="{BB962C8B-B14F-4D97-AF65-F5344CB8AC3E}">
        <p14:creationId xmlns:p14="http://schemas.microsoft.com/office/powerpoint/2010/main" val="225973788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8B4559D-47FD-5921-D1B0-509CF9A1C6AC}"/>
              </a:ext>
            </a:extLst>
          </p:cNvPr>
          <p:cNvPicPr>
            <a:picLocks noChangeAspect="1"/>
          </p:cNvPicPr>
          <p:nvPr/>
        </p:nvPicPr>
        <p:blipFill>
          <a:blip r:embed="rId2"/>
          <a:stretch>
            <a:fillRect/>
          </a:stretch>
        </p:blipFill>
        <p:spPr>
          <a:xfrm>
            <a:off x="1295400" y="0"/>
            <a:ext cx="4603819" cy="6645136"/>
          </a:xfrm>
          <a:prstGeom prst="rect">
            <a:avLst/>
          </a:prstGeom>
        </p:spPr>
      </p:pic>
      <p:pic>
        <p:nvPicPr>
          <p:cNvPr id="7" name="Picture 6">
            <a:extLst>
              <a:ext uri="{FF2B5EF4-FFF2-40B4-BE49-F238E27FC236}">
                <a16:creationId xmlns:a16="http://schemas.microsoft.com/office/drawing/2014/main" id="{1DB52CEE-BBB7-60BF-371B-193DA15C9150}"/>
              </a:ext>
            </a:extLst>
          </p:cNvPr>
          <p:cNvPicPr>
            <a:picLocks noChangeAspect="1"/>
          </p:cNvPicPr>
          <p:nvPr/>
        </p:nvPicPr>
        <p:blipFill>
          <a:blip r:embed="rId3"/>
          <a:stretch>
            <a:fillRect/>
          </a:stretch>
        </p:blipFill>
        <p:spPr>
          <a:xfrm>
            <a:off x="6438826" y="247554"/>
            <a:ext cx="4946583" cy="6397581"/>
          </a:xfrm>
          <a:prstGeom prst="rect">
            <a:avLst/>
          </a:prstGeom>
        </p:spPr>
      </p:pic>
    </p:spTree>
    <p:extLst>
      <p:ext uri="{BB962C8B-B14F-4D97-AF65-F5344CB8AC3E}">
        <p14:creationId xmlns:p14="http://schemas.microsoft.com/office/powerpoint/2010/main" val="252279335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C7A6622-4324-8F49-F280-B602B635BC89}"/>
              </a:ext>
            </a:extLst>
          </p:cNvPr>
          <p:cNvSpPr txBox="1"/>
          <p:nvPr/>
        </p:nvSpPr>
        <p:spPr>
          <a:xfrm>
            <a:off x="557906" y="0"/>
            <a:ext cx="11425547" cy="523220"/>
          </a:xfrm>
          <a:prstGeom prst="rect">
            <a:avLst/>
          </a:prstGeom>
          <a:noFill/>
        </p:spPr>
        <p:txBody>
          <a:bodyPr wrap="square">
            <a:spAutoFit/>
          </a:bodyPr>
          <a:lstStyle/>
          <a:p>
            <a:r>
              <a:rPr lang="en-US" sz="1400" dirty="0">
                <a:hlinkClick r:id="rId2"/>
              </a:rPr>
              <a:t>https://archive.org/stream/grimmshouseholdt01grim/grimmshouseholdt01grim_djvu.txt</a:t>
            </a:r>
            <a:endParaRPr lang="en-US" sz="1400" dirty="0"/>
          </a:p>
          <a:p>
            <a:endParaRPr lang="en-US" sz="1400" dirty="0"/>
          </a:p>
        </p:txBody>
      </p:sp>
      <p:sp>
        <p:nvSpPr>
          <p:cNvPr id="2" name="Rectangle 1">
            <a:extLst>
              <a:ext uri="{FF2B5EF4-FFF2-40B4-BE49-F238E27FC236}">
                <a16:creationId xmlns:a16="http://schemas.microsoft.com/office/drawing/2014/main" id="{290DA711-5DB9-3A97-3DAF-48F80DC9BB25}"/>
              </a:ext>
            </a:extLst>
          </p:cNvPr>
          <p:cNvSpPr>
            <a:spLocks noChangeArrowheads="1"/>
          </p:cNvSpPr>
          <p:nvPr/>
        </p:nvSpPr>
        <p:spPr bwMode="auto">
          <a:xfrm>
            <a:off x="557906" y="738664"/>
            <a:ext cx="10477500" cy="5650245"/>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6348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rgbClr val="333333"/>
                </a:solidFill>
                <a:effectLst/>
                <a:latin typeface="Menlo"/>
              </a:rPr>
              <a:t>5</a:t>
            </a:r>
            <a:r>
              <a:rPr kumimoji="0" lang="en-US" altLang="en-US" sz="1100" b="0" i="0" u="none" strike="noStrike" cap="none" normalizeH="0" baseline="0" dirty="0">
                <a:ln>
                  <a:noFill/>
                </a:ln>
                <a:solidFill>
                  <a:srgbClr val="333333"/>
                </a:solidFill>
                <a:effectLst/>
                <a:latin typeface="Menlo"/>
              </a:rPr>
              <a:t>.— THE WOLF AND THE SEVEN LITTLE KIDS. There was once on a time an old goat who had seven little kids, and loved them with all the love of a mother for her children. One day she wanted to go into the forest and fetch some food. So she called all seven to her and said, " Dear children, I have to go into the forest, be on your guard against. the wolf; if he come in, he will devour you all — skin, hair, and all. The wretch often disguises himself, but you will know him at once by his rough voice and his black feet." The kids said, " Dear mother, we will take good care of ourselves ; you may go away without any anxiety." Then the old one bleated, and went on her way with an easy mind. It was not long before some one knocked at the house - door and cried, "Open the door, dear children; your mother is here, and has brought something back with her for each of you." But the little kids knew that it was the wolf, by the rough voice ; " We will not open the door," cried they, " thou art not our mother. She has a soft, pleasant voice, but thy voice is rough ; thou art the wolf I " Then the wolf went away to a shopkeeper and bought himself a great lump of chalk, ate this and made his voice soft with it. Then he came back, knocked at the door of the house, and cried, " Open the door, dear children, jour mother is here and has brought something back with her for each of you." But the wolf had laid his black paws against the window, and the children saw them and cried, " We will not open the door, our mother has not black feet like thee : thou art the wolf! " Then the wolf ran to a baker and said, " I have hurt my feet, rub some dough over them for me." And when the baker had rubbed his feet over, he ran to the miller and said, " Strew some white meal over my feet for me." The miller thought to himself, " The wolf wants to deceive some one," and refused ; but the wolf said, " If thou wilt not do it, I will devour thee." Then the miller was afraid, and made his paws white for him. Truly men are like that. So now the wretch went for the third time to the house- door, knocked at it and said, " Open the door for me, children, your dear little mother has come home, and has brought every one of you something back from the forest with her." The little kids cried, " First show us thy paws that we may know if thou art our dear little mother." Then he put his paws in through the window, and when the kids saw that they were white, they believed that all he said was true, and opened the door. But who should come in but the wolf! They were terrified and wanted to hide themselves. One sprang under the table, the second into the bed, the third into the stove, the fourth into the kitchen, the fifth into the cupboard, the sixth under the washing-bowl, and the seventh into the clock- case. But the wolf found them all, and used no great ceremony ; one after the other he swallowed them down his throat. The youngest in the clock-case was the only one he did not find. When the wolf had satisfied his appetite he took himself off, laid himself down </a:t>
            </a:r>
            <a:r>
              <a:rPr lang="en-US" altLang="en-US" sz="1100" dirty="0">
                <a:solidFill>
                  <a:srgbClr val="333333"/>
                </a:solidFill>
                <a:latin typeface="Menlo"/>
              </a:rPr>
              <a:t>u</a:t>
            </a:r>
            <a:r>
              <a:rPr kumimoji="0" lang="en-US" altLang="en-US" sz="1100" b="0" i="0" u="none" strike="noStrike" cap="none" normalizeH="0" baseline="0" dirty="0">
                <a:ln>
                  <a:noFill/>
                </a:ln>
                <a:solidFill>
                  <a:srgbClr val="333333"/>
                </a:solidFill>
                <a:effectLst/>
                <a:latin typeface="Menlo"/>
              </a:rPr>
              <a:t>nder a tree in the green meadow outside, and began to sleep. Soon after- Avards the old goat came home again from the forest. Ah ! what a sight she saw there ! The house-door stood wide open. The table, chairs, and benches were thrown down, the washing-bowl lay broken to pieces, and the quilts and pillows were pulled off the bed. She sought her children, but they were nowhere to be found. She called them one after another by name, but no one answered. At last, when she came to the youngest, a soft voice cried, " Dear mother, I am in the clock-case." She took the kid out, and it told her that the wolf had come and had eaten all the others. Then you may imagine how she wept over her </a:t>
            </a:r>
            <a:r>
              <a:rPr lang="en-US" altLang="en-US" sz="1100" dirty="0">
                <a:solidFill>
                  <a:srgbClr val="333333"/>
                </a:solidFill>
                <a:latin typeface="Menlo"/>
              </a:rPr>
              <a:t>po</a:t>
            </a:r>
            <a:r>
              <a:rPr kumimoji="0" lang="en-US" altLang="en-US" sz="1100" b="0" i="0" u="none" strike="noStrike" cap="none" normalizeH="0" baseline="0" dirty="0">
                <a:ln>
                  <a:noFill/>
                </a:ln>
                <a:solidFill>
                  <a:srgbClr val="333333"/>
                </a:solidFill>
                <a:effectLst/>
                <a:latin typeface="Menlo"/>
              </a:rPr>
              <a:t>or children. At length in her grief she went out, and the youngest kid ran with her. When they came to the meadow, there lay the wolf by the tree and snored so loud that the branches shook. She looked at him on every side and saw that something was moving and struggling in his gorged body. " Ah, heavens," said she, " is it possible that my </a:t>
            </a:r>
            <a:r>
              <a:rPr lang="en-US" altLang="en-US" sz="1100" dirty="0">
                <a:solidFill>
                  <a:srgbClr val="333333"/>
                </a:solidFill>
                <a:latin typeface="Menlo"/>
              </a:rPr>
              <a:t>po</a:t>
            </a:r>
            <a:r>
              <a:rPr kumimoji="0" lang="en-US" altLang="en-US" sz="1100" b="0" i="0" u="none" strike="noStrike" cap="none" normalizeH="0" baseline="0" dirty="0">
                <a:ln>
                  <a:noFill/>
                </a:ln>
                <a:solidFill>
                  <a:srgbClr val="333333"/>
                </a:solidFill>
                <a:effectLst/>
                <a:latin typeface="Menlo"/>
              </a:rPr>
              <a:t>or children whom he has swallowed down for his supper, can be still alive?" Then the kid had to run home and fetch scissors, and a needle and thread, and the goat cut open the monster's stomach, and hardly had she made one cut, than one little kid thrust its head out, and when she had cut farther, all six sprang out one after another, and were all still alive, and had suffered no injury whatever, for in his greediness the monster had swallowed them down whole. What rejoicing there was ! Then they embraced their dear mother, and jumped like a tailor at his wedding. The mother, however, said, " Now go and look for some big stones, and we will fill the wicked beast's stomach with! them while he is still asleep." Then the seven kids dragged the stones thither with all speed, and put as many] of them into his stomach as they could get in ; and the! mother sewed him up again in the greatest haste, so that he was not aware of anything and never once stirred. When the wolf at length had had his sleep out, he got on his legs, and as the stones in his stomach made him very thirsty, he wanted to go to a well to drink. But when he began to walk and to move about, the stones in his stomach knocked against each other and rattled. Then cried he, " What rumbles and tumbles </a:t>
            </a:r>
            <a:r>
              <a:rPr lang="en-US" altLang="en-US" sz="1100" dirty="0">
                <a:solidFill>
                  <a:srgbClr val="333333"/>
                </a:solidFill>
                <a:latin typeface="Menlo"/>
              </a:rPr>
              <a:t>ag</a:t>
            </a:r>
            <a:r>
              <a:rPr kumimoji="0" lang="en-US" altLang="en-US" sz="1100" b="0" i="0" u="none" strike="noStrike" cap="none" normalizeH="0" baseline="0" dirty="0">
                <a:ln>
                  <a:noFill/>
                </a:ln>
                <a:solidFill>
                  <a:srgbClr val="333333"/>
                </a:solidFill>
                <a:effectLst/>
                <a:latin typeface="Menlo"/>
              </a:rPr>
              <a:t>ainst my poor bones I thought 'twas six kids, But it's naught but big stones." And when he got to the well and stooped over the water </a:t>
            </a:r>
            <a:r>
              <a:rPr lang="en-US" altLang="en-US" sz="1100" dirty="0">
                <a:solidFill>
                  <a:srgbClr val="333333"/>
                </a:solidFill>
                <a:latin typeface="Menlo"/>
              </a:rPr>
              <a:t>a</a:t>
            </a:r>
            <a:r>
              <a:rPr kumimoji="0" lang="en-US" altLang="en-US" sz="1100" b="0" i="0" u="none" strike="noStrike" cap="none" normalizeH="0" baseline="0" dirty="0">
                <a:ln>
                  <a:noFill/>
                </a:ln>
                <a:solidFill>
                  <a:srgbClr val="333333"/>
                </a:solidFill>
                <a:effectLst/>
                <a:latin typeface="Menlo"/>
              </a:rPr>
              <a:t>nd was just about to drink, the heavy stones made him fall in and there was no help, but he had to drown miserably. When the seven kids saw that, they came running to the spot and cried aloud, "The wolf is dead! The wolf is dead ! " and danced for joy round about the </a:t>
            </a:r>
            <a:r>
              <a:rPr lang="en-US" altLang="en-US" sz="1100" dirty="0">
                <a:solidFill>
                  <a:srgbClr val="333333"/>
                </a:solidFill>
                <a:latin typeface="Menlo"/>
              </a:rPr>
              <a:t>w</a:t>
            </a:r>
            <a:r>
              <a:rPr kumimoji="0" lang="en-US" altLang="en-US" sz="1100" b="0" i="0" u="none" strike="noStrike" cap="none" normalizeH="0" baseline="0" dirty="0">
                <a:ln>
                  <a:noFill/>
                </a:ln>
                <a:solidFill>
                  <a:srgbClr val="333333"/>
                </a:solidFill>
                <a:effectLst/>
                <a:latin typeface="Menlo"/>
              </a:rPr>
              <a:t>ell with their mother</a:t>
            </a:r>
            <a:r>
              <a:rPr kumimoji="0" lang="en-US" altLang="en-US" sz="1100" b="0" i="0" u="none" strike="noStrike" cap="none" normalizeH="0" baseline="0" dirty="0">
                <a:ln>
                  <a:noFill/>
                </a:ln>
                <a:solidFill>
                  <a:schemeClr val="tx1"/>
                </a:solidFill>
                <a:effectLst/>
              </a:rPr>
              <a:t> </a:t>
            </a:r>
            <a:endParaRPr kumimoji="0" lang="en-US" altLang="en-US" sz="10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8495186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0B980D4-C878-889E-0A62-9AACB30023F5}"/>
              </a:ext>
            </a:extLst>
          </p:cNvPr>
          <p:cNvSpPr txBox="1"/>
          <p:nvPr/>
        </p:nvSpPr>
        <p:spPr>
          <a:xfrm>
            <a:off x="0" y="33867"/>
            <a:ext cx="6096000" cy="646331"/>
          </a:xfrm>
          <a:prstGeom prst="rect">
            <a:avLst/>
          </a:prstGeom>
          <a:noFill/>
        </p:spPr>
        <p:txBody>
          <a:bodyPr wrap="square">
            <a:spAutoFit/>
          </a:bodyPr>
          <a:lstStyle/>
          <a:p>
            <a:r>
              <a:rPr lang="en-US" dirty="0">
                <a:hlinkClick r:id="rId2"/>
              </a:rPr>
              <a:t>https://sites.pitt.edu/~dash/grimm.html#jointpublications</a:t>
            </a:r>
            <a:endParaRPr lang="en-US" dirty="0"/>
          </a:p>
          <a:p>
            <a:endParaRPr lang="en-US" dirty="0"/>
          </a:p>
        </p:txBody>
      </p:sp>
      <p:pic>
        <p:nvPicPr>
          <p:cNvPr id="5" name="Picture 4">
            <a:extLst>
              <a:ext uri="{FF2B5EF4-FFF2-40B4-BE49-F238E27FC236}">
                <a16:creationId xmlns:a16="http://schemas.microsoft.com/office/drawing/2014/main" id="{A719F1A3-1DD2-1FA6-1734-A2F56E21E372}"/>
              </a:ext>
            </a:extLst>
          </p:cNvPr>
          <p:cNvPicPr>
            <a:picLocks noChangeAspect="1"/>
          </p:cNvPicPr>
          <p:nvPr/>
        </p:nvPicPr>
        <p:blipFill>
          <a:blip r:embed="rId3"/>
          <a:stretch>
            <a:fillRect/>
          </a:stretch>
        </p:blipFill>
        <p:spPr>
          <a:xfrm>
            <a:off x="0" y="465120"/>
            <a:ext cx="6096000" cy="4653566"/>
          </a:xfrm>
          <a:prstGeom prst="rect">
            <a:avLst/>
          </a:prstGeom>
        </p:spPr>
      </p:pic>
      <p:sp>
        <p:nvSpPr>
          <p:cNvPr id="7" name="TextBox 6">
            <a:extLst>
              <a:ext uri="{FF2B5EF4-FFF2-40B4-BE49-F238E27FC236}">
                <a16:creationId xmlns:a16="http://schemas.microsoft.com/office/drawing/2014/main" id="{78116908-2896-EB8F-CEF0-E9DC6697A289}"/>
              </a:ext>
            </a:extLst>
          </p:cNvPr>
          <p:cNvSpPr txBox="1"/>
          <p:nvPr/>
        </p:nvSpPr>
        <p:spPr>
          <a:xfrm>
            <a:off x="-25400" y="5229299"/>
            <a:ext cx="6121400" cy="1384995"/>
          </a:xfrm>
          <a:prstGeom prst="rect">
            <a:avLst/>
          </a:prstGeom>
          <a:noFill/>
        </p:spPr>
        <p:txBody>
          <a:bodyPr wrap="square">
            <a:spAutoFit/>
          </a:bodyPr>
          <a:lstStyle/>
          <a:p>
            <a:pPr algn="l">
              <a:buNone/>
            </a:pPr>
            <a:r>
              <a:rPr lang="en-US" sz="1400" b="0" i="0" dirty="0">
                <a:solidFill>
                  <a:srgbClr val="000000"/>
                </a:solidFill>
                <a:effectLst/>
                <a:latin typeface="Times New Roman" panose="02020603050405020304" pitchFamily="18" charset="0"/>
              </a:rPr>
              <a:t>7th edition, 1857. This final version is the basis for most editions and translations published after the Grimms' death.</a:t>
            </a:r>
          </a:p>
          <a:p>
            <a:pPr algn="l">
              <a:buFont typeface="Arial" panose="020B0604020202020204" pitchFamily="34" charset="0"/>
              <a:buChar char="•"/>
            </a:pPr>
            <a:r>
              <a:rPr lang="en-US" sz="1400" b="0" i="0" dirty="0">
                <a:solidFill>
                  <a:srgbClr val="000000"/>
                </a:solidFill>
                <a:effectLst/>
                <a:latin typeface="Times New Roman" panose="02020603050405020304" pitchFamily="18" charset="0"/>
              </a:rPr>
              <a:t>Scanned text of volume 1 (books.google.com): </a:t>
            </a:r>
            <a:r>
              <a:rPr lang="en-US" sz="1400" b="0" i="1" dirty="0">
                <a:solidFill>
                  <a:srgbClr val="000000"/>
                </a:solidFill>
                <a:effectLst/>
                <a:latin typeface="Times New Roman" panose="02020603050405020304" pitchFamily="18" charset="0"/>
                <a:hlinkClick r:id="rId4"/>
              </a:rPr>
              <a:t>Kinder und </a:t>
            </a:r>
            <a:r>
              <a:rPr lang="en-US" sz="1400" b="0" i="1" dirty="0" err="1">
                <a:solidFill>
                  <a:srgbClr val="000000"/>
                </a:solidFill>
                <a:effectLst/>
                <a:latin typeface="Times New Roman" panose="02020603050405020304" pitchFamily="18" charset="0"/>
                <a:hlinkClick r:id="rId4"/>
              </a:rPr>
              <a:t>Hausmärchen</a:t>
            </a:r>
            <a:r>
              <a:rPr lang="en-US" sz="1400" b="0" i="1" dirty="0">
                <a:solidFill>
                  <a:srgbClr val="000000"/>
                </a:solidFill>
                <a:effectLst/>
                <a:latin typeface="Times New Roman" panose="02020603050405020304" pitchFamily="18" charset="0"/>
                <a:hlinkClick r:id="rId4"/>
              </a:rPr>
              <a:t> </a:t>
            </a:r>
            <a:r>
              <a:rPr lang="en-US" sz="1400" b="0" i="1" dirty="0" err="1">
                <a:solidFill>
                  <a:srgbClr val="000000"/>
                </a:solidFill>
                <a:effectLst/>
                <a:latin typeface="Times New Roman" panose="02020603050405020304" pitchFamily="18" charset="0"/>
                <a:hlinkClick r:id="rId4"/>
              </a:rPr>
              <a:t>gesammelt</a:t>
            </a:r>
            <a:r>
              <a:rPr lang="en-US" sz="1400" b="0" i="1" dirty="0">
                <a:solidFill>
                  <a:srgbClr val="000000"/>
                </a:solidFill>
                <a:effectLst/>
                <a:latin typeface="Times New Roman" panose="02020603050405020304" pitchFamily="18" charset="0"/>
                <a:hlinkClick r:id="rId4"/>
              </a:rPr>
              <a:t> </a:t>
            </a:r>
            <a:r>
              <a:rPr lang="en-US" sz="1400" b="0" i="1" dirty="0" err="1">
                <a:solidFill>
                  <a:srgbClr val="000000"/>
                </a:solidFill>
                <a:effectLst/>
                <a:latin typeface="Times New Roman" panose="02020603050405020304" pitchFamily="18" charset="0"/>
                <a:hlinkClick r:id="rId4"/>
              </a:rPr>
              <a:t>durch</a:t>
            </a:r>
            <a:r>
              <a:rPr lang="en-US" sz="1400" b="0" i="1" dirty="0">
                <a:solidFill>
                  <a:srgbClr val="000000"/>
                </a:solidFill>
                <a:effectLst/>
                <a:latin typeface="Times New Roman" panose="02020603050405020304" pitchFamily="18" charset="0"/>
                <a:hlinkClick r:id="rId4"/>
              </a:rPr>
              <a:t> die </a:t>
            </a:r>
            <a:r>
              <a:rPr lang="en-US" sz="1400" b="0" i="1" dirty="0" err="1">
                <a:solidFill>
                  <a:srgbClr val="000000"/>
                </a:solidFill>
                <a:effectLst/>
                <a:latin typeface="Times New Roman" panose="02020603050405020304" pitchFamily="18" charset="0"/>
                <a:hlinkClick r:id="rId4"/>
              </a:rPr>
              <a:t>Brüder</a:t>
            </a:r>
            <a:r>
              <a:rPr lang="en-US" sz="1400" b="0" i="1" dirty="0">
                <a:solidFill>
                  <a:srgbClr val="000000"/>
                </a:solidFill>
                <a:effectLst/>
                <a:latin typeface="Times New Roman" panose="02020603050405020304" pitchFamily="18" charset="0"/>
                <a:hlinkClick r:id="rId4"/>
              </a:rPr>
              <a:t> Grimm</a:t>
            </a:r>
            <a:r>
              <a:rPr lang="en-US" sz="1400" b="0" i="0" dirty="0">
                <a:solidFill>
                  <a:srgbClr val="000000"/>
                </a:solidFill>
                <a:effectLst/>
                <a:latin typeface="Times New Roman" panose="02020603050405020304" pitchFamily="18" charset="0"/>
                <a:hlinkClick r:id="rId4"/>
              </a:rPr>
              <a:t>. </a:t>
            </a:r>
            <a:r>
              <a:rPr lang="en-US" sz="1400" b="0" i="0" dirty="0" err="1">
                <a:solidFill>
                  <a:srgbClr val="000000"/>
                </a:solidFill>
                <a:effectLst/>
                <a:latin typeface="Times New Roman" panose="02020603050405020304" pitchFamily="18" charset="0"/>
                <a:hlinkClick r:id="rId4"/>
              </a:rPr>
              <a:t>Erster</a:t>
            </a:r>
            <a:r>
              <a:rPr lang="en-US" sz="1400" b="0" i="0" dirty="0">
                <a:solidFill>
                  <a:srgbClr val="000000"/>
                </a:solidFill>
                <a:effectLst/>
                <a:latin typeface="Times New Roman" panose="02020603050405020304" pitchFamily="18" charset="0"/>
                <a:hlinkClick r:id="rId4"/>
              </a:rPr>
              <a:t> Band. </a:t>
            </a:r>
            <a:r>
              <a:rPr lang="en-US" sz="1400" b="0" i="0" dirty="0" err="1">
                <a:solidFill>
                  <a:srgbClr val="000000"/>
                </a:solidFill>
                <a:effectLst/>
                <a:latin typeface="Times New Roman" panose="02020603050405020304" pitchFamily="18" charset="0"/>
                <a:hlinkClick r:id="rId4"/>
              </a:rPr>
              <a:t>Große</a:t>
            </a:r>
            <a:r>
              <a:rPr lang="en-US" sz="1400" b="0" i="0" dirty="0">
                <a:solidFill>
                  <a:srgbClr val="000000"/>
                </a:solidFill>
                <a:effectLst/>
                <a:latin typeface="Times New Roman" panose="02020603050405020304" pitchFamily="18" charset="0"/>
                <a:hlinkClick r:id="rId4"/>
              </a:rPr>
              <a:t> </a:t>
            </a:r>
            <a:r>
              <a:rPr lang="en-US" sz="1400" b="0" i="0" dirty="0" err="1">
                <a:solidFill>
                  <a:srgbClr val="000000"/>
                </a:solidFill>
                <a:effectLst/>
                <a:latin typeface="Times New Roman" panose="02020603050405020304" pitchFamily="18" charset="0"/>
                <a:hlinkClick r:id="rId4"/>
              </a:rPr>
              <a:t>Ausgabe</a:t>
            </a:r>
            <a:r>
              <a:rPr lang="en-US" sz="1400" b="0" i="0" dirty="0">
                <a:solidFill>
                  <a:srgbClr val="000000"/>
                </a:solidFill>
                <a:effectLst/>
                <a:latin typeface="Times New Roman" panose="02020603050405020304" pitchFamily="18" charset="0"/>
                <a:hlinkClick r:id="rId4"/>
              </a:rPr>
              <a:t>. </a:t>
            </a:r>
            <a:r>
              <a:rPr lang="en-US" sz="1400" b="0" i="0" dirty="0" err="1">
                <a:solidFill>
                  <a:srgbClr val="000000"/>
                </a:solidFill>
                <a:effectLst/>
                <a:latin typeface="Times New Roman" panose="02020603050405020304" pitchFamily="18" charset="0"/>
                <a:hlinkClick r:id="rId4"/>
              </a:rPr>
              <a:t>Siebente</a:t>
            </a:r>
            <a:r>
              <a:rPr lang="en-US" sz="1400" b="0" i="0" dirty="0">
                <a:solidFill>
                  <a:srgbClr val="000000"/>
                </a:solidFill>
                <a:effectLst/>
                <a:latin typeface="Times New Roman" panose="02020603050405020304" pitchFamily="18" charset="0"/>
                <a:hlinkClick r:id="rId4"/>
              </a:rPr>
              <a:t> </a:t>
            </a:r>
            <a:r>
              <a:rPr lang="en-US" sz="1400" b="0" i="0" dirty="0" err="1">
                <a:solidFill>
                  <a:srgbClr val="000000"/>
                </a:solidFill>
                <a:effectLst/>
                <a:latin typeface="Times New Roman" panose="02020603050405020304" pitchFamily="18" charset="0"/>
                <a:hlinkClick r:id="rId4"/>
              </a:rPr>
              <a:t>Auflage</a:t>
            </a:r>
            <a:r>
              <a:rPr lang="en-US" sz="1400" b="0" i="0" dirty="0">
                <a:solidFill>
                  <a:srgbClr val="000000"/>
                </a:solidFill>
                <a:effectLst/>
                <a:latin typeface="Times New Roman" panose="02020603050405020304" pitchFamily="18" charset="0"/>
                <a:hlinkClick r:id="rId4"/>
              </a:rPr>
              <a:t>. Göttingen. Verlag der </a:t>
            </a:r>
            <a:r>
              <a:rPr lang="en-US" sz="1400" b="0" i="0" dirty="0" err="1">
                <a:solidFill>
                  <a:srgbClr val="000000"/>
                </a:solidFill>
                <a:effectLst/>
                <a:latin typeface="Times New Roman" panose="02020603050405020304" pitchFamily="18" charset="0"/>
                <a:hlinkClick r:id="rId4"/>
              </a:rPr>
              <a:t>Dieterichschen</a:t>
            </a:r>
            <a:r>
              <a:rPr lang="en-US" sz="1400" b="0" i="0" dirty="0">
                <a:solidFill>
                  <a:srgbClr val="000000"/>
                </a:solidFill>
                <a:effectLst/>
                <a:latin typeface="Times New Roman" panose="02020603050405020304" pitchFamily="18" charset="0"/>
                <a:hlinkClick r:id="rId4"/>
              </a:rPr>
              <a:t> </a:t>
            </a:r>
            <a:r>
              <a:rPr lang="en-US" sz="1400" b="0" i="0" dirty="0" err="1">
                <a:solidFill>
                  <a:srgbClr val="000000"/>
                </a:solidFill>
                <a:effectLst/>
                <a:latin typeface="Times New Roman" panose="02020603050405020304" pitchFamily="18" charset="0"/>
                <a:hlinkClick r:id="rId4"/>
              </a:rPr>
              <a:t>Buchhandlung</a:t>
            </a:r>
            <a:r>
              <a:rPr lang="en-US" sz="1400" b="0" i="0" dirty="0">
                <a:solidFill>
                  <a:srgbClr val="000000"/>
                </a:solidFill>
                <a:effectLst/>
                <a:latin typeface="Times New Roman" panose="02020603050405020304" pitchFamily="18" charset="0"/>
                <a:hlinkClick r:id="rId4"/>
              </a:rPr>
              <a:t>. 1857</a:t>
            </a:r>
            <a:r>
              <a:rPr lang="en-US" sz="1400" b="0" i="0" dirty="0">
                <a:solidFill>
                  <a:srgbClr val="000000"/>
                </a:solidFill>
                <a:effectLst/>
                <a:latin typeface="Times New Roman" panose="02020603050405020304" pitchFamily="18" charset="0"/>
              </a:rPr>
              <a:t>. This volume contains stories 1-86.</a:t>
            </a:r>
          </a:p>
        </p:txBody>
      </p:sp>
      <p:pic>
        <p:nvPicPr>
          <p:cNvPr id="9" name="Picture 8">
            <a:extLst>
              <a:ext uri="{FF2B5EF4-FFF2-40B4-BE49-F238E27FC236}">
                <a16:creationId xmlns:a16="http://schemas.microsoft.com/office/drawing/2014/main" id="{72B054CD-4935-EDDF-A430-5CD157F1170F}"/>
              </a:ext>
            </a:extLst>
          </p:cNvPr>
          <p:cNvPicPr>
            <a:picLocks noChangeAspect="1"/>
          </p:cNvPicPr>
          <p:nvPr/>
        </p:nvPicPr>
        <p:blipFill>
          <a:blip r:embed="rId5"/>
          <a:srcRect l="30220" t="26075" r="16200" b="9321"/>
          <a:stretch/>
        </p:blipFill>
        <p:spPr>
          <a:xfrm>
            <a:off x="6383867" y="237065"/>
            <a:ext cx="5437158" cy="6377229"/>
          </a:xfrm>
          <a:prstGeom prst="rect">
            <a:avLst/>
          </a:prstGeom>
        </p:spPr>
      </p:pic>
    </p:spTree>
    <p:extLst>
      <p:ext uri="{BB962C8B-B14F-4D97-AF65-F5344CB8AC3E}">
        <p14:creationId xmlns:p14="http://schemas.microsoft.com/office/powerpoint/2010/main" val="324062496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8110269-28CC-887E-3035-4005CD1071C7}"/>
              </a:ext>
            </a:extLst>
          </p:cNvPr>
          <p:cNvPicPr>
            <a:picLocks noChangeAspect="1"/>
          </p:cNvPicPr>
          <p:nvPr/>
        </p:nvPicPr>
        <p:blipFill>
          <a:blip r:embed="rId2"/>
          <a:stretch>
            <a:fillRect/>
          </a:stretch>
        </p:blipFill>
        <p:spPr>
          <a:xfrm>
            <a:off x="0" y="914399"/>
            <a:ext cx="5970716" cy="5808133"/>
          </a:xfrm>
          <a:prstGeom prst="rect">
            <a:avLst/>
          </a:prstGeom>
        </p:spPr>
      </p:pic>
      <p:sp>
        <p:nvSpPr>
          <p:cNvPr id="5" name="TextBox 4">
            <a:extLst>
              <a:ext uri="{FF2B5EF4-FFF2-40B4-BE49-F238E27FC236}">
                <a16:creationId xmlns:a16="http://schemas.microsoft.com/office/drawing/2014/main" id="{3F21E29F-7BF8-D5D5-A844-F21EC0DC120E}"/>
              </a:ext>
            </a:extLst>
          </p:cNvPr>
          <p:cNvSpPr txBox="1"/>
          <p:nvPr/>
        </p:nvSpPr>
        <p:spPr>
          <a:xfrm>
            <a:off x="0" y="135468"/>
            <a:ext cx="6096000" cy="923330"/>
          </a:xfrm>
          <a:prstGeom prst="rect">
            <a:avLst/>
          </a:prstGeom>
          <a:noFill/>
        </p:spPr>
        <p:txBody>
          <a:bodyPr wrap="square">
            <a:spAutoFit/>
          </a:bodyPr>
          <a:lstStyle/>
          <a:p>
            <a:r>
              <a:rPr lang="en-US" dirty="0">
                <a:hlinkClick r:id="rId3"/>
              </a:rPr>
              <a:t>https://books.google.com/books?id=y9tLAAAAIAAJ&amp;pg=PP9#v=onepage&amp;q&amp;f=false</a:t>
            </a:r>
            <a:endParaRPr lang="en-US" dirty="0"/>
          </a:p>
          <a:p>
            <a:endParaRPr lang="en-US" dirty="0"/>
          </a:p>
        </p:txBody>
      </p:sp>
      <p:pic>
        <p:nvPicPr>
          <p:cNvPr id="10" name="Picture 9">
            <a:extLst>
              <a:ext uri="{FF2B5EF4-FFF2-40B4-BE49-F238E27FC236}">
                <a16:creationId xmlns:a16="http://schemas.microsoft.com/office/drawing/2014/main" id="{52920621-FC9C-6D9F-8C8D-932A155E720C}"/>
              </a:ext>
            </a:extLst>
          </p:cNvPr>
          <p:cNvPicPr>
            <a:picLocks noChangeAspect="1"/>
          </p:cNvPicPr>
          <p:nvPr/>
        </p:nvPicPr>
        <p:blipFill>
          <a:blip r:embed="rId4"/>
          <a:stretch>
            <a:fillRect/>
          </a:stretch>
        </p:blipFill>
        <p:spPr>
          <a:xfrm>
            <a:off x="6096000" y="826584"/>
            <a:ext cx="5970716" cy="5808133"/>
          </a:xfrm>
          <a:prstGeom prst="rect">
            <a:avLst/>
          </a:prstGeom>
        </p:spPr>
      </p:pic>
    </p:spTree>
    <p:extLst>
      <p:ext uri="{BB962C8B-B14F-4D97-AF65-F5344CB8AC3E}">
        <p14:creationId xmlns:p14="http://schemas.microsoft.com/office/powerpoint/2010/main" val="317741106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A63440-E9FF-95FD-D45B-A19655B040CD}"/>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6BA4B866-3FE9-D578-36C2-941EE2ADC858}"/>
              </a:ext>
            </a:extLst>
          </p:cNvPr>
          <p:cNvPicPr>
            <a:picLocks noChangeAspect="1"/>
          </p:cNvPicPr>
          <p:nvPr/>
        </p:nvPicPr>
        <p:blipFill>
          <a:blip r:embed="rId2"/>
          <a:stretch>
            <a:fillRect/>
          </a:stretch>
        </p:blipFill>
        <p:spPr>
          <a:xfrm>
            <a:off x="0" y="0"/>
            <a:ext cx="12176073" cy="4731488"/>
          </a:xfrm>
          <a:prstGeom prst="rect">
            <a:avLst/>
          </a:prstGeom>
        </p:spPr>
      </p:pic>
      <p:pic>
        <p:nvPicPr>
          <p:cNvPr id="9" name="Picture 8">
            <a:extLst>
              <a:ext uri="{FF2B5EF4-FFF2-40B4-BE49-F238E27FC236}">
                <a16:creationId xmlns:a16="http://schemas.microsoft.com/office/drawing/2014/main" id="{B1657DF0-B2D9-F36C-F2A0-99CA766D670D}"/>
              </a:ext>
            </a:extLst>
          </p:cNvPr>
          <p:cNvPicPr>
            <a:picLocks noChangeAspect="1"/>
          </p:cNvPicPr>
          <p:nvPr/>
        </p:nvPicPr>
        <p:blipFill>
          <a:blip r:embed="rId3"/>
          <a:stretch>
            <a:fillRect/>
          </a:stretch>
        </p:blipFill>
        <p:spPr>
          <a:xfrm>
            <a:off x="6666614" y="0"/>
            <a:ext cx="5509459" cy="6834942"/>
          </a:xfrm>
          <a:prstGeom prst="rect">
            <a:avLst/>
          </a:prstGeom>
        </p:spPr>
      </p:pic>
    </p:spTree>
    <p:extLst>
      <p:ext uri="{BB962C8B-B14F-4D97-AF65-F5344CB8AC3E}">
        <p14:creationId xmlns:p14="http://schemas.microsoft.com/office/powerpoint/2010/main" val="327894625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58D4C87-2E5C-D6F9-B328-BE0F9CA43DC0}"/>
              </a:ext>
            </a:extLst>
          </p:cNvPr>
          <p:cNvPicPr>
            <a:picLocks noChangeAspect="1"/>
          </p:cNvPicPr>
          <p:nvPr/>
        </p:nvPicPr>
        <p:blipFill>
          <a:blip r:embed="rId2"/>
          <a:stretch>
            <a:fillRect/>
          </a:stretch>
        </p:blipFill>
        <p:spPr>
          <a:xfrm>
            <a:off x="615668" y="911095"/>
            <a:ext cx="10960663" cy="5035809"/>
          </a:xfrm>
          <a:prstGeom prst="rect">
            <a:avLst/>
          </a:prstGeom>
        </p:spPr>
      </p:pic>
    </p:spTree>
    <p:extLst>
      <p:ext uri="{BB962C8B-B14F-4D97-AF65-F5344CB8AC3E}">
        <p14:creationId xmlns:p14="http://schemas.microsoft.com/office/powerpoint/2010/main" val="171757305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E865215-7EDF-256A-222B-1ACB05A33A34}"/>
              </a:ext>
            </a:extLst>
          </p:cNvPr>
          <p:cNvPicPr>
            <a:picLocks noChangeAspect="1"/>
          </p:cNvPicPr>
          <p:nvPr/>
        </p:nvPicPr>
        <p:blipFill>
          <a:blip r:embed="rId2"/>
          <a:stretch>
            <a:fillRect/>
          </a:stretch>
        </p:blipFill>
        <p:spPr>
          <a:xfrm>
            <a:off x="615668" y="911095"/>
            <a:ext cx="10960663" cy="5035809"/>
          </a:xfrm>
          <a:prstGeom prst="rect">
            <a:avLst/>
          </a:prstGeom>
        </p:spPr>
      </p:pic>
    </p:spTree>
    <p:extLst>
      <p:ext uri="{BB962C8B-B14F-4D97-AF65-F5344CB8AC3E}">
        <p14:creationId xmlns:p14="http://schemas.microsoft.com/office/powerpoint/2010/main" val="284257573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16750</TotalTime>
  <Words>3050</Words>
  <Application>Microsoft Office PowerPoint</Application>
  <PresentationFormat>Widescreen</PresentationFormat>
  <Paragraphs>146</Paragraphs>
  <Slides>18</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18</vt:i4>
      </vt:variant>
    </vt:vector>
  </HeadingPairs>
  <TitlesOfParts>
    <vt:vector size="26" baseType="lpstr">
      <vt:lpstr>Aptos</vt:lpstr>
      <vt:lpstr>Aptos Display</vt:lpstr>
      <vt:lpstr>Arial</vt:lpstr>
      <vt:lpstr>Menlo</vt:lpstr>
      <vt:lpstr>Noto-Sans-Bold-Italic</vt:lpstr>
      <vt:lpstr>Segoe UI</vt:lpstr>
      <vt:lpstr>Times New Roman</vt:lpstr>
      <vt:lpstr>Office Theme</vt:lpstr>
      <vt:lpstr>Grimm01</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Bill Worstell</dc:creator>
  <cp:lastModifiedBy>Bill Worstell</cp:lastModifiedBy>
  <cp:revision>9</cp:revision>
  <dcterms:created xsi:type="dcterms:W3CDTF">2025-04-27T15:28:57Z</dcterms:created>
  <dcterms:modified xsi:type="dcterms:W3CDTF">2025-05-31T22:19:12Z</dcterms:modified>
</cp:coreProperties>
</file>