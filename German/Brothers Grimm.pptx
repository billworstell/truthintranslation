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4" r:id="rId5"/>
    <p:sldId id="259" r:id="rId6"/>
    <p:sldId id="260" r:id="rId7"/>
    <p:sldId id="261" r:id="rId8"/>
    <p:sldId id="262" r:id="rId9"/>
    <p:sldId id="263" r:id="rId10"/>
    <p:sldId id="265" r:id="rId11"/>
    <p:sldId id="266" r:id="rId12"/>
    <p:sldId id="267" r:id="rId13"/>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0573" autoAdjust="0"/>
  </p:normalViewPr>
  <p:slideViewPr>
    <p:cSldViewPr snapToGrid="0" showGuides="1">
      <p:cViewPr varScale="1">
        <p:scale>
          <a:sx n="57" d="100"/>
          <a:sy n="57" d="100"/>
        </p:scale>
        <p:origin x="954" y="2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22B56-207F-B066-C392-DAA62C8477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CCFA30-DC59-E091-9495-42880F1C31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144C5-D5E8-2C03-8380-5D839270EC16}"/>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B51C22B5-3B00-D368-A883-11FA8E682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080A22-16AE-17E3-37A1-FEFCF9D59636}"/>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212645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2003-273E-376F-C8EC-360E80B840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DF5F39-A173-846C-338F-DFCA50F296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3C067-2D63-A5CB-C3CE-1F51126F5A55}"/>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F4BF2038-0BCA-FBE1-58DC-01C9C8690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131A0-350C-5735-06BF-590FBCF9A2B7}"/>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907975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AC6E-5643-DAFB-CDCE-341B30235B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B14079-1D7A-65C3-865B-0487C4E447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7F4C86-9B51-AF96-6279-9ADEE111C861}"/>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A6C1BBE1-8D71-7A9F-70F6-E2BEA91682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0A6C20-25BB-2461-301E-290C5A31D171}"/>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1354077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416D-C503-CD84-BF3C-EFAED71F25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419CCA-57A2-6391-DC2E-ACC715720F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743CAF-7071-EBAB-4521-310397C1A6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D61D68-2BF4-0ECE-6BCA-629B06E47F20}"/>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6" name="Footer Placeholder 5">
            <a:extLst>
              <a:ext uri="{FF2B5EF4-FFF2-40B4-BE49-F238E27FC236}">
                <a16:creationId xmlns:a16="http://schemas.microsoft.com/office/drawing/2014/main" id="{FCF6D837-46D3-7911-A16A-D476C477B6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2CB4A4-2674-1595-FA30-DC099C43DFFF}"/>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3576538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C0A79-9522-9CBF-964F-8C16FB3D1B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C816BE3-6933-FED3-DDD6-518ED7D21E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611883-414C-7A6C-A6E2-200717CD75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530BE7-607A-0CD5-A8EE-63891FF20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8CBF81-2AC1-F327-27CA-06E0E1088B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653079-471E-77DB-82C0-4EB0C1AB1D36}"/>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8" name="Footer Placeholder 7">
            <a:extLst>
              <a:ext uri="{FF2B5EF4-FFF2-40B4-BE49-F238E27FC236}">
                <a16:creationId xmlns:a16="http://schemas.microsoft.com/office/drawing/2014/main" id="{1D8D3F2B-6DFE-2061-327A-4B215D2073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D2C137-8704-8081-4118-187D497D0577}"/>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4224514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ADC5F-B719-001A-C1F4-2AFA65AEE34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6C264D-FEC0-9729-41C6-4321FF9DFF94}"/>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4" name="Footer Placeholder 3">
            <a:extLst>
              <a:ext uri="{FF2B5EF4-FFF2-40B4-BE49-F238E27FC236}">
                <a16:creationId xmlns:a16="http://schemas.microsoft.com/office/drawing/2014/main" id="{034C6097-6585-F448-EAEB-E8EBE23577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07C47A-D785-59B9-0A98-A58281572508}"/>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1867611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DB70F2-A0F3-84EB-7558-715C8D812D7A}"/>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3" name="Footer Placeholder 2">
            <a:extLst>
              <a:ext uri="{FF2B5EF4-FFF2-40B4-BE49-F238E27FC236}">
                <a16:creationId xmlns:a16="http://schemas.microsoft.com/office/drawing/2014/main" id="{94A8A6DA-1293-76D8-E79B-A80D99C510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499978-FB94-97F6-1953-C9DAF215A7A9}"/>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1279173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C4E6C-CBDC-8BDB-D652-5CBD7E9AF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EF6559-9DFD-9F97-07CD-8BAA9475A1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85A2-F50E-2F0D-16DE-D355FB25C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FE8564-52CE-CA84-D4CB-BCF7978C6E7D}"/>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6" name="Footer Placeholder 5">
            <a:extLst>
              <a:ext uri="{FF2B5EF4-FFF2-40B4-BE49-F238E27FC236}">
                <a16:creationId xmlns:a16="http://schemas.microsoft.com/office/drawing/2014/main" id="{50B259EB-FD53-EB00-A129-46747572A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4B9628-A571-6677-BEF0-36CDDBFB3960}"/>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1672434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02ECA-334E-E01A-A480-1EE47D0C71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0D2BEC-EBD3-AF82-97E9-2ECF6177CB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ACB1EB-F321-453F-0E65-58815D14A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467D5-5252-14CE-F580-395E15ED53B8}"/>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6" name="Footer Placeholder 5">
            <a:extLst>
              <a:ext uri="{FF2B5EF4-FFF2-40B4-BE49-F238E27FC236}">
                <a16:creationId xmlns:a16="http://schemas.microsoft.com/office/drawing/2014/main" id="{9851482E-E1CA-E789-AD8A-A987B20BC7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162D7F-B3E3-AC53-0C0F-E0F4F2489B1D}"/>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1293187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21DE6-1A34-6C88-EB86-1B7126A29E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2E38C9-73B0-4740-08CD-5BC8B0F8C4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4CF0AF-AAFA-2A46-820C-F5D8C592EC78}"/>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6D5CFBA8-4560-C337-5F87-EDD3C47FB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293DD9-4CA6-49B7-21F3-CECFCD24D1C3}"/>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3824355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D5178E-C3C6-A7B3-81C0-72F2DAF2E1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CDA08A-F733-BD3D-9448-02F076B971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1FADE7-17CE-AFF3-4F3A-AED01CB5F2E1}"/>
              </a:ext>
            </a:extLst>
          </p:cNvPr>
          <p:cNvSpPr>
            <a:spLocks noGrp="1"/>
          </p:cNvSpPr>
          <p:nvPr>
            <p:ph type="dt" sz="half" idx="10"/>
          </p:nvPr>
        </p:nvSpPr>
        <p:spPr/>
        <p:txBody>
          <a:body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F0D5AB3B-CB22-8FD4-9911-DC44ECC425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060444-8AF7-5FDA-B496-B3AF3C8FA69B}"/>
              </a:ext>
            </a:extLst>
          </p:cNvPr>
          <p:cNvSpPr>
            <a:spLocks noGrp="1"/>
          </p:cNvSpPr>
          <p:nvPr>
            <p:ph type="sldNum" sz="quarter" idx="12"/>
          </p:nvPr>
        </p:nvSpPr>
        <p:spPr/>
        <p:txBody>
          <a:bodyPr/>
          <a:lstStyle/>
          <a:p>
            <a:fld id="{E62DEA76-5A0B-4B72-9550-5C76A454AD39}" type="slidenum">
              <a:rPr lang="en-US" smtClean="0"/>
              <a:t>‹#›</a:t>
            </a:fld>
            <a:endParaRPr lang="en-US"/>
          </a:p>
        </p:txBody>
      </p:sp>
    </p:spTree>
    <p:extLst>
      <p:ext uri="{BB962C8B-B14F-4D97-AF65-F5344CB8AC3E}">
        <p14:creationId xmlns:p14="http://schemas.microsoft.com/office/powerpoint/2010/main" val="924174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B69DDE-8288-7B4F-4193-16561EE69E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0D0AC4-7DB9-A6FB-88D1-F25355E6E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F4800-A5AA-3F80-FBB7-CEC29E4D0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E3EE6E-419C-4BCC-A881-0CEC39B16699}" type="datetimeFigureOut">
              <a:rPr lang="en-US" smtClean="0"/>
              <a:t>5/24/2025</a:t>
            </a:fld>
            <a:endParaRPr lang="en-US"/>
          </a:p>
        </p:txBody>
      </p:sp>
      <p:sp>
        <p:nvSpPr>
          <p:cNvPr id="5" name="Footer Placeholder 4">
            <a:extLst>
              <a:ext uri="{FF2B5EF4-FFF2-40B4-BE49-F238E27FC236}">
                <a16:creationId xmlns:a16="http://schemas.microsoft.com/office/drawing/2014/main" id="{F193C1CF-4B89-387A-8C52-B81E0EA48A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1A3967-37AF-9FEE-2402-FCEB77C242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2DEA76-5A0B-4B72-9550-5C76A454AD39}" type="slidenum">
              <a:rPr lang="en-US" smtClean="0"/>
              <a:t>‹#›</a:t>
            </a:fld>
            <a:endParaRPr lang="en-US"/>
          </a:p>
        </p:txBody>
      </p:sp>
    </p:spTree>
    <p:extLst>
      <p:ext uri="{BB962C8B-B14F-4D97-AF65-F5344CB8AC3E}">
        <p14:creationId xmlns:p14="http://schemas.microsoft.com/office/powerpoint/2010/main" val="2229974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hyperlink" Target="https://www.reddit.com/r/folklore/comments/sm8qsp/best_edition_for_grimms_fairy_tales/#:~:text=Best%20Edition%20for%20Grimms%20Fairy,1884%3B%201944" TargetMode="External"/><Relationship Id="rId3" Type="http://schemas.openxmlformats.org/officeDocument/2006/relationships/hyperlink" Target="https://sites.pitt.edu/~dash/grimm.html#:~:text=1812,book%20containing%2086%20numbered%20folktales" TargetMode="External"/><Relationship Id="rId7" Type="http://schemas.openxmlformats.org/officeDocument/2006/relationships/hyperlink" Target="https://archive.org/details/grimmshouseholdt01grim#:~:text=Publication%20date%20%201884" TargetMode="External"/><Relationship Id="rId2" Type="http://schemas.openxmlformats.org/officeDocument/2006/relationships/hyperlink" Target="https://archive.org/details/grimms-marchen-alle-250-kinder-und-hausmarchen-der-bruder-grimm-editor-lord-henfield-2022#:~:text=Grimms%20M%C3%A4rchen%2C%20Alle%20250%20Kinder,Publication%20date%3A%202022" TargetMode="External"/><Relationship Id="rId1" Type="http://schemas.openxmlformats.org/officeDocument/2006/relationships/slideLayout" Target="../slideLayouts/slideLayout7.xml"/><Relationship Id="rId6" Type="http://schemas.openxmlformats.org/officeDocument/2006/relationships/hyperlink" Target="https://archive.org/details/grimmshouseholdt01grim#:~:text=download%201%20file" TargetMode="External"/><Relationship Id="rId11" Type="http://schemas.openxmlformats.org/officeDocument/2006/relationships/hyperlink" Target="https://onlinebooks.library.upenn.edu/webbin/gutbook/lookup?num=2591#:~:text=Page%20onlinebooks,2591" TargetMode="External"/><Relationship Id="rId5" Type="http://schemas.openxmlformats.org/officeDocument/2006/relationships/hyperlink" Target="https://archive.org/details/grimmshouseholdt01grim#:~:text=Grimm%27s%20household%20tales%20%3A%20with,Bell%20and%20sons%2C%20limited" TargetMode="External"/><Relationship Id="rId10" Type="http://schemas.openxmlformats.org/officeDocument/2006/relationships/hyperlink" Target="https://www.abebooks.com/book-search/author/brothers-grimm-lucy-crane-walter-crane/book/#:~:text=Collection%20of%2053%20tales%2C%20lavishly,the%20tales%20from%20the" TargetMode="External"/><Relationship Id="rId4" Type="http://schemas.openxmlformats.org/officeDocument/2006/relationships/hyperlink" Target="https://sites.pitt.edu/~dash/grimm.html#:~:text=unpretentious%20book%20containing%2086%20numbered,folktales" TargetMode="External"/><Relationship Id="rId9" Type="http://schemas.openxmlformats.org/officeDocument/2006/relationships/hyperlink" Target="https://www.gutenberg.org/files/19068/19068-h/19068-h.htm#:~:text=The%20Project%20Gutenberg%20eBook%20of,Macmillan%20and%20Company%20in%201886"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reddit.com/r/folklore/comments/sm8qsp/best_edition_for_grimms_fairy_tales/#:~:text=Best%20Edition%20for%20Grimms%20Fairy,1884%3B%201944" TargetMode="External"/><Relationship Id="rId3" Type="http://schemas.openxmlformats.org/officeDocument/2006/relationships/hyperlink" Target="https://sites.pitt.edu/~dash/grimm.html#:~:text=1812,book%20containing%2086%20numbered%20folktales" TargetMode="External"/><Relationship Id="rId7" Type="http://schemas.openxmlformats.org/officeDocument/2006/relationships/hyperlink" Target="https://archive.org/details/grimmshouseholdt01grim#:~:text=Publication%20date%20%201884" TargetMode="External"/><Relationship Id="rId12" Type="http://schemas.openxmlformats.org/officeDocument/2006/relationships/image" Target="../media/image3.png"/><Relationship Id="rId2" Type="http://schemas.openxmlformats.org/officeDocument/2006/relationships/hyperlink" Target="https://archive.org/details/grimms-marchen-alle-250-kinder-und-hausmarchen-der-bruder-grimm-editor-lord-henfield-2022#:~:text=Grimms%20M%C3%A4rchen%2C%20Alle%20250%20Kinder,Publication%20date%3A%202022" TargetMode="External"/><Relationship Id="rId1" Type="http://schemas.openxmlformats.org/officeDocument/2006/relationships/slideLayout" Target="../slideLayouts/slideLayout7.xml"/><Relationship Id="rId6" Type="http://schemas.openxmlformats.org/officeDocument/2006/relationships/hyperlink" Target="https://archive.org/details/grimmshouseholdt01grim#:~:text=download%201%20file" TargetMode="External"/><Relationship Id="rId11" Type="http://schemas.openxmlformats.org/officeDocument/2006/relationships/hyperlink" Target="https://onlinebooks.library.upenn.edu/webbin/gutbook/lookup?num=2591#:~:text=Page%20onlinebooks,2591" TargetMode="External"/><Relationship Id="rId5" Type="http://schemas.openxmlformats.org/officeDocument/2006/relationships/hyperlink" Target="https://archive.org/details/grimmshouseholdt01grim#:~:text=Grimm%27s%20household%20tales%20%3A%20with,Bell%20and%20sons%2C%20limited" TargetMode="External"/><Relationship Id="rId10" Type="http://schemas.openxmlformats.org/officeDocument/2006/relationships/hyperlink" Target="https://www.abebooks.com/book-search/author/brothers-grimm-lucy-crane-walter-crane/book/#:~:text=Collection%20of%2053%20tales%2C%20lavishly,the%20tales%20from%20the" TargetMode="External"/><Relationship Id="rId4" Type="http://schemas.openxmlformats.org/officeDocument/2006/relationships/hyperlink" Target="https://sites.pitt.edu/~dash/grimm.html#:~:text=unpretentious%20book%20containing%2086%20numbered,folktales" TargetMode="External"/><Relationship Id="rId9" Type="http://schemas.openxmlformats.org/officeDocument/2006/relationships/hyperlink" Target="https://www.gutenberg.org/files/19068/19068-h/19068-h.htm#:~:text=The%20Project%20Gutenberg%20eBook%20of,Macmillan%20and%20Company%20in%201886"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dn720305.ca.archive.org/0/items/grimmshouseholdt01grim/grimmshouseholdt01grim.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www.zeno.org/Literatur/M/Grimm,+Jacob+und+Wilhelm/M%C3%A4rchen/Kinder-+und+Hausm%C3%A4rchen+(1812-15)/Erster+Band/3.+Marienkind" TargetMode="External"/><Relationship Id="rId13" Type="http://schemas.openxmlformats.org/officeDocument/2006/relationships/hyperlink" Target="http://www.zeno.org/Literatur/M/Grimm,+Jacob+und+Wilhelm/M%C3%A4rchen/Kinder-+und+Hausm%C3%A4rchen+(1812-15)/Erster+Band/8.+Die+Hand+mit+dem+Messer" TargetMode="External"/><Relationship Id="rId18" Type="http://schemas.openxmlformats.org/officeDocument/2006/relationships/hyperlink" Target="http://www.zeno.org/Literatur/M/Grimm,+Jacob+und+Wilhelm/M%C3%A4rchen/Kinder-+und+Hausm%C3%A4rchen+(1812-15)/Erster+Band/13.+Die+drei+M%C3%A4nnlein+im+Walde" TargetMode="External"/><Relationship Id="rId26" Type="http://schemas.openxmlformats.org/officeDocument/2006/relationships/hyperlink" Target="http://www.zeno.org/Literatur/M/Grimm,+Jacob+und+Wilhelm/M%C3%A4rchen/Kinder-+und+Hausm%C3%A4rchen+(1812-15)/Erster+Band/21.+Aschenputtel" TargetMode="External"/><Relationship Id="rId3" Type="http://schemas.openxmlformats.org/officeDocument/2006/relationships/hyperlink" Target="http://www.zeno.org/Literatur/M/Grimm,+Jacob+und+Wilhelm/M%C3%A4rchen/Kinder-+und+Hausm%C3%A4rchen+(1812-15)/Erster+Band" TargetMode="External"/><Relationship Id="rId21" Type="http://schemas.openxmlformats.org/officeDocument/2006/relationships/hyperlink" Target="http://www.zeno.org/Literatur/M/Grimm,+Jacob+und+Wilhelm/M%C3%A4rchen/Kinder-+und+Hausm%C3%A4rchen+(1812-15)/Erster+Band/16.+Herr+Fix+und+Fertig" TargetMode="External"/><Relationship Id="rId7" Type="http://schemas.openxmlformats.org/officeDocument/2006/relationships/hyperlink" Target="http://www.zeno.org/Literatur/M/Grimm,+Jacob+und+Wilhelm/M%C3%A4rchen/Kinder-+und+Hausm%C3%A4rchen+(1812-15)/Erster+Band/2.+Katz+und+Maus+in+Gesellschaft" TargetMode="External"/><Relationship Id="rId12" Type="http://schemas.openxmlformats.org/officeDocument/2006/relationships/hyperlink" Target="http://www.zeno.org/Literatur/M/Grimm,+Jacob+und+Wilhelm/M%C3%A4rchen/Kinder-+und+Hausm%C3%A4rchen+(1812-15)/Erster+Band/7.+Von+dem+gestohlenen+Heller" TargetMode="External"/><Relationship Id="rId17" Type="http://schemas.openxmlformats.org/officeDocument/2006/relationships/hyperlink" Target="http://www.zeno.org/Literatur/M/Grimm,+Jacob+und+Wilhelm/M%C3%A4rchen/Kinder-+und+Hausm%C3%A4rchen+(1812-15)/Erster+Band/12.+Rapunzel" TargetMode="External"/><Relationship Id="rId25" Type="http://schemas.openxmlformats.org/officeDocument/2006/relationships/hyperlink" Target="http://www.zeno.org/Literatur/M/Grimm,+Jacob+und+Wilhelm/M%C3%A4rchen/Kinder-+und+Hausm%C3%A4rchen+(1812-15)/Erster+Band/20.+Von+einem+tapfern+Schneider" TargetMode="External"/><Relationship Id="rId2" Type="http://schemas.openxmlformats.org/officeDocument/2006/relationships/hyperlink" Target="http://www.zeno.org/Literatur/M/Grimm,+Jacob+und+Wilhelm/M%C3%A4rchen/Kinder-+und+Hausm%C3%A4rchen+(1812-15)#google_vignette" TargetMode="External"/><Relationship Id="rId16" Type="http://schemas.openxmlformats.org/officeDocument/2006/relationships/hyperlink" Target="http://www.zeno.org/Literatur/M/Grimm,+Jacob+und+Wilhelm/M%C3%A4rchen/Kinder-+und+Hausm%C3%A4rchen+(1812-15)/Erster+Band/11.+Br%C3%BCderchen+und+Schwesterchen" TargetMode="External"/><Relationship Id="rId20" Type="http://schemas.openxmlformats.org/officeDocument/2006/relationships/hyperlink" Target="http://www.zeno.org/Literatur/M/Grimm,+Jacob+und+Wilhelm/M%C3%A4rchen/Kinder-+und+Hausm%C3%A4rchen+(1812-15)/Erster+Band/15.+H%C3%A4nsel+und+Gretel" TargetMode="External"/><Relationship Id="rId29" Type="http://schemas.openxmlformats.org/officeDocument/2006/relationships/hyperlink" Target="http://www.zeno.org/Literatur/M/Grimm,+Jacob+und+Wilhelm/M%C3%A4rchen/Kinder-+und+Hausm%C3%A4rchen+(1812-15)/Erster+Band/24.+Frau+Holle" TargetMode="External"/><Relationship Id="rId1" Type="http://schemas.openxmlformats.org/officeDocument/2006/relationships/slideLayout" Target="../slideLayouts/slideLayout7.xml"/><Relationship Id="rId6" Type="http://schemas.openxmlformats.org/officeDocument/2006/relationships/hyperlink" Target="http://www.zeno.org/Literatur/M/Grimm,+Jacob+und+Wilhelm/M%C3%A4rchen/Kinder-+und+Hausm%C3%A4rchen+(1812-15)/Erster+Band/1.+Der+Froschk%C3%B6nig+oder+der+eiserne+Heinrich" TargetMode="External"/><Relationship Id="rId11" Type="http://schemas.openxmlformats.org/officeDocument/2006/relationships/hyperlink" Target="http://www.zeno.org/Literatur/M/Grimm,+Jacob+und+Wilhelm/M%C3%A4rchen/Kinder-+und+Hausm%C3%A4rchen+(1812-15)/Erster+Band/6.+Von+der+Nachtigall+und+der+Blindschleiche" TargetMode="External"/><Relationship Id="rId24" Type="http://schemas.openxmlformats.org/officeDocument/2006/relationships/hyperlink" Target="http://www.zeno.org/Literatur/M/Grimm,+Jacob+und+Wilhelm/M%C3%A4rchen/Kinder-+und+Hausm%C3%A4rchen+(1812-15)/Erster+Band/19.+Von+den+Fischer+und+siine+Fru" TargetMode="External"/><Relationship Id="rId32" Type="http://schemas.openxmlformats.org/officeDocument/2006/relationships/hyperlink" Target="http://www.zeno.org/Literatur/M/Grimm,+Jacob+und+Wilhelm/M%C3%A4rchen/Kinder-+und+Hausm%C3%A4rchen+(1812-15)/Erster+Band/27.+Der+Tod+und+der+G%C3%A4nshirt" TargetMode="External"/><Relationship Id="rId5" Type="http://schemas.openxmlformats.org/officeDocument/2006/relationships/hyperlink" Target="http://www.zeno.org/Literatur/M/Grimm,+Jacob+und+Wilhelm/M%C3%A4rchen/Kinder-+und+Hausm%C3%A4rchen+(1812-15)/Erster+Band/Zeugnisse+f%C3%BCr+Kinderm%C3%A4rchen" TargetMode="External"/><Relationship Id="rId15" Type="http://schemas.openxmlformats.org/officeDocument/2006/relationships/hyperlink" Target="http://www.zeno.org/Literatur/M/Grimm,+Jacob+und+Wilhelm/M%C3%A4rchen/Kinder-+und+Hausm%C3%A4rchen+(1812-15)/Erster+Band/10.+Das+Lumpengesindel" TargetMode="External"/><Relationship Id="rId23" Type="http://schemas.openxmlformats.org/officeDocument/2006/relationships/hyperlink" Target="http://www.zeno.org/Literatur/M/Grimm,+Jacob+und+Wilhelm/M%C3%A4rchen/Kinder-+und+Hausm%C3%A4rchen+(1812-15)/Erster+Band/18.+Strohhalm,+Kohle+und+Bohne+auf+der+Reise" TargetMode="External"/><Relationship Id="rId28" Type="http://schemas.openxmlformats.org/officeDocument/2006/relationships/hyperlink" Target="http://www.zeno.org/Literatur/M/Grimm,+Jacob+und+Wilhelm/M%C3%A4rchen/Kinder-+und+Hausm%C3%A4rchen+(1812-15)/Erster+Band/23.+Von+dem+M%C3%A4uschen,+V%C3%B6gelchen+und+der+Bratwurst" TargetMode="External"/><Relationship Id="rId10" Type="http://schemas.openxmlformats.org/officeDocument/2006/relationships/hyperlink" Target="http://www.zeno.org/Literatur/M/Grimm,+Jacob+und+Wilhelm/M%C3%A4rchen/Kinder-+und+Hausm%C3%A4rchen+(1812-15)/Erster+Band/5.+Der+Wolf+und+die+sieben+jungen+Geislein" TargetMode="External"/><Relationship Id="rId19" Type="http://schemas.openxmlformats.org/officeDocument/2006/relationships/hyperlink" Target="http://www.zeno.org/Literatur/M/Grimm,+Jacob+und+Wilhelm/M%C3%A4rchen/Kinder-+und+Hausm%C3%A4rchen+(1812-15)/Erster+Band/14.+Von+dem+b%C3%B6sen+Flachspinnen" TargetMode="External"/><Relationship Id="rId31" Type="http://schemas.openxmlformats.org/officeDocument/2006/relationships/hyperlink" Target="http://www.zeno.org/Literatur/M/Grimm,+Jacob+und+Wilhelm/M%C3%A4rchen/Kinder-+und+Hausm%C3%A4rchen+(1812-15)/Erster+Band/26.+Rothk%C3%A4ppchen" TargetMode="External"/><Relationship Id="rId4" Type="http://schemas.openxmlformats.org/officeDocument/2006/relationships/hyperlink" Target="http://www.zeno.org/Literatur/M/Grimm,+Jacob+und+Wilhelm/M%C3%A4rchen/Kinder-+und+Hausm%C3%A4rchen+(1812-15)/Erster+Band/Vorrede" TargetMode="External"/><Relationship Id="rId9" Type="http://schemas.openxmlformats.org/officeDocument/2006/relationships/hyperlink" Target="http://www.zeno.org/Literatur/M/Grimm,+Jacob+und+Wilhelm/M%C3%A4rchen/Kinder-+und+Hausm%C3%A4rchen+(1812-15)/Erster+Band/4.+Gut+Kegel-+und+Kartenspiel" TargetMode="External"/><Relationship Id="rId14" Type="http://schemas.openxmlformats.org/officeDocument/2006/relationships/hyperlink" Target="http://www.zeno.org/Literatur/M/Grimm,+Jacob+und+Wilhelm/M%C3%A4rchen/Kinder-+und+Hausm%C3%A4rchen+(1812-15)/Erster+Band/9.+Die+zw%C3%B6lf+Br%C3%BCder" TargetMode="External"/><Relationship Id="rId22" Type="http://schemas.openxmlformats.org/officeDocument/2006/relationships/hyperlink" Target="http://www.zeno.org/Literatur/M/Grimm,+Jacob+und+Wilhelm/M%C3%A4rchen/Kinder-+und+Hausm%C3%A4rchen+(1812-15)/Erster+Band/17.+Die+wei%C3%9Fe+Schlange" TargetMode="External"/><Relationship Id="rId27" Type="http://schemas.openxmlformats.org/officeDocument/2006/relationships/hyperlink" Target="http://www.zeno.org/Literatur/M/Grimm,+Jacob+und+Wilhelm/M%C3%A4rchen/Kinder-+und+Hausm%C3%A4rchen+(1812-15)/Erster+Band/22.+Wie+Kinder+Schlachtens+mit+einander+gespielt+haben" TargetMode="External"/><Relationship Id="rId30" Type="http://schemas.openxmlformats.org/officeDocument/2006/relationships/hyperlink" Target="http://www.zeno.org/Literatur/M/Grimm,+Jacob+und+Wilhelm/M%C3%A4rchen/Kinder-+und+Hausm%C3%A4rchen+(1812-15)/Erster+Band/25.+Die+drei+Rab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A1571-B1DA-0589-BB5B-C7A46F4D084D}"/>
              </a:ext>
            </a:extLst>
          </p:cNvPr>
          <p:cNvSpPr>
            <a:spLocks noGrp="1"/>
          </p:cNvSpPr>
          <p:nvPr>
            <p:ph type="ctrTitle"/>
          </p:nvPr>
        </p:nvSpPr>
        <p:spPr/>
        <p:txBody>
          <a:bodyPr/>
          <a:lstStyle/>
          <a:p>
            <a:r>
              <a:rPr lang="en-US" dirty="0"/>
              <a:t>Brothers Grimm</a:t>
            </a:r>
          </a:p>
        </p:txBody>
      </p:sp>
      <p:sp>
        <p:nvSpPr>
          <p:cNvPr id="3" name="Subtitle 2">
            <a:extLst>
              <a:ext uri="{FF2B5EF4-FFF2-40B4-BE49-F238E27FC236}">
                <a16:creationId xmlns:a16="http://schemas.microsoft.com/office/drawing/2014/main" id="{17A75855-02B6-6F01-C587-647126BDF132}"/>
              </a:ext>
            </a:extLst>
          </p:cNvPr>
          <p:cNvSpPr>
            <a:spLocks noGrp="1"/>
          </p:cNvSpPr>
          <p:nvPr>
            <p:ph type="subTitle" idx="1"/>
          </p:nvPr>
        </p:nvSpPr>
        <p:spPr/>
        <p:txBody>
          <a:bodyPr/>
          <a:lstStyle/>
          <a:p>
            <a:r>
              <a:rPr lang="en-US" i="1" dirty="0">
                <a:latin typeface="Segoe UI" panose="020B0502040204020203" pitchFamily="34" charset="0"/>
                <a:cs typeface="Segoe UI" panose="020B0502040204020203" pitchFamily="34" charset="0"/>
              </a:rPr>
              <a:t>Source and Processing Descriptions</a:t>
            </a:r>
          </a:p>
        </p:txBody>
      </p:sp>
    </p:spTree>
    <p:extLst>
      <p:ext uri="{BB962C8B-B14F-4D97-AF65-F5344CB8AC3E}">
        <p14:creationId xmlns:p14="http://schemas.microsoft.com/office/powerpoint/2010/main" val="1188670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7E575F-71F2-6928-C7C8-63F97273189C}"/>
              </a:ext>
            </a:extLst>
          </p:cNvPr>
          <p:cNvPicPr>
            <a:picLocks noChangeAspect="1"/>
          </p:cNvPicPr>
          <p:nvPr/>
        </p:nvPicPr>
        <p:blipFill>
          <a:blip r:embed="rId2"/>
          <a:stretch>
            <a:fillRect/>
          </a:stretch>
        </p:blipFill>
        <p:spPr>
          <a:xfrm>
            <a:off x="-32065" y="-1"/>
            <a:ext cx="6128066" cy="5000625"/>
          </a:xfrm>
          <a:prstGeom prst="rect">
            <a:avLst/>
          </a:prstGeom>
        </p:spPr>
      </p:pic>
      <p:pic>
        <p:nvPicPr>
          <p:cNvPr id="5" name="Picture 4">
            <a:extLst>
              <a:ext uri="{FF2B5EF4-FFF2-40B4-BE49-F238E27FC236}">
                <a16:creationId xmlns:a16="http://schemas.microsoft.com/office/drawing/2014/main" id="{AB4CCC21-DF5E-8588-7C9C-D1546BA09600}"/>
              </a:ext>
            </a:extLst>
          </p:cNvPr>
          <p:cNvPicPr>
            <a:picLocks noChangeAspect="1"/>
          </p:cNvPicPr>
          <p:nvPr/>
        </p:nvPicPr>
        <p:blipFill>
          <a:blip r:embed="rId3"/>
          <a:stretch>
            <a:fillRect/>
          </a:stretch>
        </p:blipFill>
        <p:spPr>
          <a:xfrm>
            <a:off x="6096000" y="857251"/>
            <a:ext cx="6051106" cy="6000750"/>
          </a:xfrm>
          <a:prstGeom prst="rect">
            <a:avLst/>
          </a:prstGeom>
        </p:spPr>
      </p:pic>
    </p:spTree>
    <p:extLst>
      <p:ext uri="{BB962C8B-B14F-4D97-AF65-F5344CB8AC3E}">
        <p14:creationId xmlns:p14="http://schemas.microsoft.com/office/powerpoint/2010/main" val="3269323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518232-55A0-550C-212A-E1833B1E6CA5}"/>
              </a:ext>
            </a:extLst>
          </p:cNvPr>
          <p:cNvSpPr txBox="1"/>
          <p:nvPr/>
        </p:nvSpPr>
        <p:spPr>
          <a:xfrm>
            <a:off x="0" y="0"/>
            <a:ext cx="12192000" cy="6878806"/>
          </a:xfrm>
          <a:prstGeom prst="rect">
            <a:avLst/>
          </a:prstGeom>
          <a:noFill/>
        </p:spPr>
        <p:txBody>
          <a:bodyPr wrap="square">
            <a:spAutoFit/>
          </a:bodyPr>
          <a:lstStyle/>
          <a:p>
            <a:pPr algn="l">
              <a:buNone/>
            </a:pPr>
            <a:r>
              <a:rPr lang="en-US" sz="1000" b="1" i="0" dirty="0">
                <a:solidFill>
                  <a:srgbClr val="0D0D0D"/>
                </a:solidFill>
                <a:effectLst/>
                <a:latin typeface="ui-sans-serif"/>
              </a:rPr>
              <a:t>Grimm’s Fairy Tales – First Edition Bilingual and Original/Translation PDFs</a:t>
            </a:r>
          </a:p>
          <a:p>
            <a:pPr algn="l">
              <a:spcBef>
                <a:spcPts val="2400"/>
              </a:spcBef>
              <a:spcAft>
                <a:spcPts val="1200"/>
              </a:spcAft>
              <a:buNone/>
            </a:pPr>
            <a:r>
              <a:rPr lang="en-US" sz="1000" b="1" i="0" dirty="0">
                <a:solidFill>
                  <a:srgbClr val="0D0D0D"/>
                </a:solidFill>
                <a:effectLst/>
                <a:latin typeface="ui-sans-serif"/>
              </a:rPr>
              <a:t>Bilingual German-English Editions (First Edition)</a:t>
            </a:r>
          </a:p>
          <a:p>
            <a:pPr algn="l" fontAlgn="t">
              <a:buNone/>
            </a:pPr>
            <a:r>
              <a:rPr lang="en-US" sz="1000" b="0" i="0" dirty="0">
                <a:solidFill>
                  <a:srgbClr val="0D0D0D"/>
                </a:solidFill>
                <a:effectLst/>
                <a:latin typeface="ui-sans-serif"/>
              </a:rPr>
              <a:t>Public-domain, side-by-side bilingual editions of the </a:t>
            </a:r>
            <a:r>
              <a:rPr lang="en-US" sz="1000" b="1" i="0" dirty="0">
                <a:solidFill>
                  <a:srgbClr val="0D0D0D"/>
                </a:solidFill>
                <a:effectLst/>
                <a:latin typeface="ui-sans-serif"/>
              </a:rPr>
              <a:t>first edition (1812–1815)</a:t>
            </a:r>
            <a:r>
              <a:rPr lang="en-US" sz="1000" b="0" i="0" dirty="0">
                <a:solidFill>
                  <a:srgbClr val="0D0D0D"/>
                </a:solidFill>
                <a:effectLst/>
                <a:latin typeface="ui-sans-serif"/>
              </a:rPr>
              <a:t> of </a:t>
            </a:r>
            <a:r>
              <a:rPr lang="en-US" sz="1000" b="0" i="1" dirty="0">
                <a:solidFill>
                  <a:srgbClr val="0D0D0D"/>
                </a:solidFill>
                <a:effectLst/>
                <a:latin typeface="ui-sans-serif"/>
              </a:rPr>
              <a:t>Kinder- und </a:t>
            </a:r>
            <a:r>
              <a:rPr lang="en-US" sz="1000" b="0" i="1" dirty="0" err="1">
                <a:solidFill>
                  <a:srgbClr val="0D0D0D"/>
                </a:solidFill>
                <a:effectLst/>
                <a:latin typeface="ui-sans-serif"/>
              </a:rPr>
              <a:t>Hausmärchen</a:t>
            </a:r>
            <a:r>
              <a:rPr lang="en-US" sz="1000" b="0" i="0" dirty="0">
                <a:solidFill>
                  <a:srgbClr val="0D0D0D"/>
                </a:solidFill>
                <a:effectLst/>
                <a:latin typeface="ui-sans-serif"/>
              </a:rPr>
              <a:t> are difficult to find. No known 19th-century publication prints the </a:t>
            </a:r>
            <a:r>
              <a:rPr lang="en-US" sz="1000" b="1" i="0" dirty="0">
                <a:solidFill>
                  <a:srgbClr val="0D0D0D"/>
                </a:solidFill>
                <a:effectLst/>
                <a:latin typeface="ui-sans-serif"/>
              </a:rPr>
              <a:t>1812/1815 text</a:t>
            </a:r>
            <a:r>
              <a:rPr lang="en-US" sz="1000" b="0" i="0" dirty="0">
                <a:solidFill>
                  <a:srgbClr val="0D0D0D"/>
                </a:solidFill>
                <a:effectLst/>
                <a:latin typeface="ui-sans-serif"/>
              </a:rPr>
              <a:t> in parallel German and English. Modern bilingual compilations exist (for example, a 2022 e-book compiling “all 250” Grimm tales​</a:t>
            </a:r>
            <a:r>
              <a:rPr lang="en-US" sz="1000" b="0" i="0" u="none" strike="noStrike" dirty="0">
                <a:solidFill>
                  <a:srgbClr val="2964AA"/>
                </a:solidFill>
                <a:effectLst/>
                <a:latin typeface="ui-sans-serif"/>
                <a:hlinkClick r:id="rId2"/>
              </a:rPr>
              <a:t>archive.org</a:t>
            </a:r>
            <a:r>
              <a:rPr lang="en-US" sz="1000" b="0" i="0" dirty="0">
                <a:solidFill>
                  <a:srgbClr val="0D0D0D"/>
                </a:solidFill>
                <a:effectLst/>
                <a:latin typeface="ui-sans-serif"/>
              </a:rPr>
              <a:t>), but these use the final expanded text (1857) and are not first-edition specific. Readers interested in the </a:t>
            </a:r>
            <a:r>
              <a:rPr lang="en-US" sz="1000" b="1" i="0" dirty="0">
                <a:solidFill>
                  <a:srgbClr val="0D0D0D"/>
                </a:solidFill>
                <a:effectLst/>
                <a:latin typeface="ui-sans-serif"/>
              </a:rPr>
              <a:t>first edition</a:t>
            </a:r>
            <a:r>
              <a:rPr lang="en-US" sz="1000" b="0" i="0" dirty="0">
                <a:solidFill>
                  <a:srgbClr val="0D0D0D"/>
                </a:solidFill>
                <a:effectLst/>
                <a:latin typeface="ui-sans-serif"/>
              </a:rPr>
              <a:t> will likely need to obtain the German volume and an English translation separately. Below we list the original German first edition and faithful English translations available as downloadable PDFs.</a:t>
            </a:r>
          </a:p>
          <a:p>
            <a:pPr algn="l">
              <a:spcBef>
                <a:spcPts val="2400"/>
              </a:spcBef>
              <a:spcAft>
                <a:spcPts val="1200"/>
              </a:spcAft>
              <a:buNone/>
            </a:pPr>
            <a:r>
              <a:rPr lang="en-US" sz="1000" b="1" i="0" dirty="0">
                <a:solidFill>
                  <a:srgbClr val="0D0D0D"/>
                </a:solidFill>
                <a:effectLst/>
                <a:latin typeface="ui-sans-serif"/>
              </a:rPr>
              <a:t>Original German First Edition (1812–1815)</a:t>
            </a:r>
          </a:p>
          <a:p>
            <a:pPr algn="l" fontAlgn="t">
              <a:spcAft>
                <a:spcPts val="1200"/>
              </a:spcAft>
              <a:buFont typeface="Arial" panose="020B0604020202020204" pitchFamily="34" charset="0"/>
              <a:buChar char="•"/>
            </a:pPr>
            <a:r>
              <a:rPr lang="en-US" sz="1000" b="1" i="0" dirty="0">
                <a:solidFill>
                  <a:srgbClr val="0D0D0D"/>
                </a:solidFill>
                <a:effectLst/>
                <a:latin typeface="ui-sans-serif"/>
              </a:rPr>
              <a:t>Kinder- und </a:t>
            </a:r>
            <a:r>
              <a:rPr lang="en-US" sz="1000" b="1" i="0" dirty="0" err="1">
                <a:solidFill>
                  <a:srgbClr val="0D0D0D"/>
                </a:solidFill>
                <a:effectLst/>
                <a:latin typeface="ui-sans-serif"/>
              </a:rPr>
              <a:t>Hausmärchen</a:t>
            </a:r>
            <a:r>
              <a:rPr lang="en-US" sz="1000" b="0" i="0" dirty="0">
                <a:solidFill>
                  <a:srgbClr val="0D0D0D"/>
                </a:solidFill>
                <a:effectLst/>
                <a:latin typeface="ui-sans-serif"/>
              </a:rPr>
              <a:t>, </a:t>
            </a:r>
            <a:r>
              <a:rPr lang="en-US" sz="1000" b="1" i="0" dirty="0">
                <a:solidFill>
                  <a:srgbClr val="0D0D0D"/>
                </a:solidFill>
                <a:effectLst/>
                <a:latin typeface="ui-sans-serif"/>
              </a:rPr>
              <a:t>Vol. 1 (1812)</a:t>
            </a:r>
            <a:r>
              <a:rPr lang="en-US" sz="1000" b="0" i="0" dirty="0">
                <a:solidFill>
                  <a:srgbClr val="0D0D0D"/>
                </a:solidFill>
                <a:effectLst/>
                <a:latin typeface="ui-sans-serif"/>
              </a:rPr>
              <a:t> – </a:t>
            </a:r>
            <a:r>
              <a:rPr lang="en-US" sz="1000" b="0" i="1" dirty="0" err="1">
                <a:solidFill>
                  <a:srgbClr val="0D0D0D"/>
                </a:solidFill>
                <a:effectLst/>
                <a:latin typeface="ui-sans-serif"/>
              </a:rPr>
              <a:t>Brüder</a:t>
            </a:r>
            <a:r>
              <a:rPr lang="en-US" sz="1000" b="0" i="1" dirty="0">
                <a:solidFill>
                  <a:srgbClr val="0D0D0D"/>
                </a:solidFill>
                <a:effectLst/>
                <a:latin typeface="ui-sans-serif"/>
              </a:rPr>
              <a:t> Grimm</a:t>
            </a:r>
            <a:r>
              <a:rPr lang="en-US" sz="1000" b="0" i="0" dirty="0">
                <a:solidFill>
                  <a:srgbClr val="0D0D0D"/>
                </a:solidFill>
                <a:effectLst/>
                <a:latin typeface="ui-sans-serif"/>
              </a:rPr>
              <a:t>. This is the </a:t>
            </a:r>
            <a:r>
              <a:rPr lang="en-US" sz="1000" b="1" i="0" dirty="0">
                <a:solidFill>
                  <a:srgbClr val="0D0D0D"/>
                </a:solidFill>
                <a:effectLst/>
                <a:latin typeface="ui-sans-serif"/>
              </a:rPr>
              <a:t>original German</a:t>
            </a:r>
            <a:r>
              <a:rPr lang="en-US" sz="1000" b="0" i="0" dirty="0">
                <a:solidFill>
                  <a:srgbClr val="0D0D0D"/>
                </a:solidFill>
                <a:effectLst/>
                <a:latin typeface="ui-sans-serif"/>
              </a:rPr>
              <a:t> first volume published in 1812 by </a:t>
            </a:r>
            <a:r>
              <a:rPr lang="en-US" sz="1000" b="0" i="0" dirty="0" err="1">
                <a:solidFill>
                  <a:srgbClr val="0D0D0D"/>
                </a:solidFill>
                <a:effectLst/>
                <a:latin typeface="ui-sans-serif"/>
              </a:rPr>
              <a:t>Realschulbuchhandlung</a:t>
            </a:r>
            <a:r>
              <a:rPr lang="en-US" sz="1000" b="0" i="0" dirty="0">
                <a:solidFill>
                  <a:srgbClr val="0D0D0D"/>
                </a:solidFill>
                <a:effectLst/>
                <a:latin typeface="ui-sans-serif"/>
              </a:rPr>
              <a:t> (Berlin), containing 86 folktales​</a:t>
            </a:r>
            <a:r>
              <a:rPr lang="en-US" sz="1000" b="0" i="0" u="none" strike="noStrike" dirty="0">
                <a:solidFill>
                  <a:srgbClr val="2964AA"/>
                </a:solidFill>
                <a:effectLst/>
                <a:latin typeface="ui-sans-serif"/>
                <a:hlinkClick r:id="rId3"/>
              </a:rPr>
              <a:t>sites.pitt.edu</a:t>
            </a:r>
            <a:r>
              <a:rPr lang="en-US" sz="1000" b="0" i="0" dirty="0">
                <a:solidFill>
                  <a:srgbClr val="0D0D0D"/>
                </a:solidFill>
                <a:effectLst/>
                <a:latin typeface="ui-sans-serif"/>
              </a:rPr>
              <a:t>. A scanned PDF of the 1812 edition (in German </a:t>
            </a:r>
            <a:r>
              <a:rPr lang="en-US" sz="1000" b="0" i="1" dirty="0">
                <a:solidFill>
                  <a:srgbClr val="0D0D0D"/>
                </a:solidFill>
                <a:effectLst/>
                <a:latin typeface="ui-sans-serif"/>
              </a:rPr>
              <a:t>Fraktur</a:t>
            </a:r>
            <a:r>
              <a:rPr lang="en-US" sz="1000" b="0" i="0" dirty="0">
                <a:solidFill>
                  <a:srgbClr val="0D0D0D"/>
                </a:solidFill>
                <a:effectLst/>
                <a:latin typeface="ui-sans-serif"/>
              </a:rPr>
              <a:t> script) can be downloaded from library archives (e.g. Google Books or Internet Archive). </a:t>
            </a:r>
            <a:r>
              <a:rPr lang="en-US" sz="1000" b="0" i="1" dirty="0">
                <a:solidFill>
                  <a:srgbClr val="0D0D0D"/>
                </a:solidFill>
                <a:effectLst/>
                <a:latin typeface="ui-sans-serif"/>
              </a:rPr>
              <a:t>(Example reference: the University of Pittsburgh notes the 1812 volume with 86 tales​</a:t>
            </a:r>
            <a:r>
              <a:rPr lang="en-US" sz="1000" b="0" i="1" u="none" strike="noStrike" dirty="0">
                <a:solidFill>
                  <a:srgbClr val="2964AA"/>
                </a:solidFill>
                <a:effectLst/>
                <a:latin typeface="ui-sans-serif"/>
                <a:hlinkClick r:id="rId3"/>
              </a:rPr>
              <a:t>sites.pitt.edu</a:t>
            </a:r>
            <a:r>
              <a:rPr lang="en-US" sz="1000" b="0" i="1" dirty="0">
                <a:solidFill>
                  <a:srgbClr val="0D0D0D"/>
                </a:solidFill>
                <a:effectLst/>
                <a:latin typeface="ui-sans-serif"/>
              </a:rPr>
              <a:t>.)</a:t>
            </a:r>
            <a:endParaRPr lang="en-US" sz="1000" b="0" i="0" dirty="0">
              <a:solidFill>
                <a:srgbClr val="0D0D0D"/>
              </a:solidFill>
              <a:effectLst/>
              <a:latin typeface="ui-sans-serif"/>
            </a:endParaRPr>
          </a:p>
          <a:p>
            <a:pPr algn="l" fontAlgn="t">
              <a:spcAft>
                <a:spcPts val="1200"/>
              </a:spcAft>
              <a:buFont typeface="Arial" panose="020B0604020202020204" pitchFamily="34" charset="0"/>
              <a:buChar char="•"/>
            </a:pPr>
            <a:r>
              <a:rPr lang="en-US" sz="1000" b="1" i="0" dirty="0">
                <a:solidFill>
                  <a:srgbClr val="0D0D0D"/>
                </a:solidFill>
                <a:effectLst/>
                <a:latin typeface="ui-sans-serif"/>
              </a:rPr>
              <a:t>Kinder- und </a:t>
            </a:r>
            <a:r>
              <a:rPr lang="en-US" sz="1000" b="1" i="0" dirty="0" err="1">
                <a:solidFill>
                  <a:srgbClr val="0D0D0D"/>
                </a:solidFill>
                <a:effectLst/>
                <a:latin typeface="ui-sans-serif"/>
              </a:rPr>
              <a:t>Hausmärchen</a:t>
            </a:r>
            <a:r>
              <a:rPr lang="en-US" sz="1000" b="0" i="0" dirty="0">
                <a:solidFill>
                  <a:srgbClr val="0D0D0D"/>
                </a:solidFill>
                <a:effectLst/>
                <a:latin typeface="ui-sans-serif"/>
              </a:rPr>
              <a:t>, </a:t>
            </a:r>
            <a:r>
              <a:rPr lang="en-US" sz="1000" b="1" i="0" dirty="0">
                <a:solidFill>
                  <a:srgbClr val="0D0D0D"/>
                </a:solidFill>
                <a:effectLst/>
                <a:latin typeface="ui-sans-serif"/>
              </a:rPr>
              <a:t>Vol. 2 (1815)</a:t>
            </a:r>
            <a:r>
              <a:rPr lang="en-US" sz="1000" b="0" i="0" dirty="0">
                <a:solidFill>
                  <a:srgbClr val="0D0D0D"/>
                </a:solidFill>
                <a:effectLst/>
                <a:latin typeface="ui-sans-serif"/>
              </a:rPr>
              <a:t> – </a:t>
            </a:r>
            <a:r>
              <a:rPr lang="en-US" sz="1000" b="0" i="1" dirty="0" err="1">
                <a:solidFill>
                  <a:srgbClr val="0D0D0D"/>
                </a:solidFill>
                <a:effectLst/>
                <a:latin typeface="ui-sans-serif"/>
              </a:rPr>
              <a:t>Brüder</a:t>
            </a:r>
            <a:r>
              <a:rPr lang="en-US" sz="1000" b="0" i="1" dirty="0">
                <a:solidFill>
                  <a:srgbClr val="0D0D0D"/>
                </a:solidFill>
                <a:effectLst/>
                <a:latin typeface="ui-sans-serif"/>
              </a:rPr>
              <a:t> Grimm</a:t>
            </a:r>
            <a:r>
              <a:rPr lang="en-US" sz="1000" b="0" i="0" dirty="0">
                <a:solidFill>
                  <a:srgbClr val="0D0D0D"/>
                </a:solidFill>
                <a:effectLst/>
                <a:latin typeface="ui-sans-serif"/>
              </a:rPr>
              <a:t>. The second volume of the first edition, published late 1814 (dated 1815), added 70 more tales​</a:t>
            </a:r>
            <a:r>
              <a:rPr lang="en-US" sz="1000" b="0" i="0" u="none" strike="noStrike" dirty="0">
                <a:solidFill>
                  <a:srgbClr val="2964AA"/>
                </a:solidFill>
                <a:effectLst/>
                <a:latin typeface="ui-sans-serif"/>
                <a:hlinkClick r:id="rId4"/>
              </a:rPr>
              <a:t>sites.pitt.edu</a:t>
            </a:r>
            <a:r>
              <a:rPr lang="en-US" sz="1000" b="0" i="0" dirty="0">
                <a:solidFill>
                  <a:srgbClr val="0D0D0D"/>
                </a:solidFill>
                <a:effectLst/>
                <a:latin typeface="ui-sans-serif"/>
              </a:rPr>
              <a:t>. A digitized PDF of this 1815 German volume is also available via Google Books/Internet Archive. These first-edition texts preserve the Grimms’ original wording and story versions before later revisions. </a:t>
            </a:r>
            <a:r>
              <a:rPr lang="en-US" sz="1000" b="0" i="1" dirty="0">
                <a:solidFill>
                  <a:srgbClr val="0D0D0D"/>
                </a:solidFill>
                <a:effectLst/>
                <a:latin typeface="ui-sans-serif"/>
              </a:rPr>
              <a:t>(Both volumes are in the public domain; scans can be found by searching archive sites for **“Kinder- und </a:t>
            </a:r>
            <a:r>
              <a:rPr lang="en-US" sz="1000" b="0" i="1" dirty="0" err="1">
                <a:solidFill>
                  <a:srgbClr val="0D0D0D"/>
                </a:solidFill>
                <a:effectLst/>
                <a:latin typeface="ui-sans-serif"/>
              </a:rPr>
              <a:t>Hausmärchen</a:t>
            </a:r>
            <a:r>
              <a:rPr lang="en-US" sz="1000" b="0" i="1" dirty="0">
                <a:solidFill>
                  <a:srgbClr val="0D0D0D"/>
                </a:solidFill>
                <a:effectLst/>
                <a:latin typeface="ui-sans-serif"/>
              </a:rPr>
              <a:t> 1812/1815 PDF.”</a:t>
            </a:r>
            <a:r>
              <a:rPr lang="en-US" sz="1000" b="0" i="0" dirty="0">
                <a:solidFill>
                  <a:srgbClr val="0D0D0D"/>
                </a:solidFill>
                <a:effectLst/>
                <a:latin typeface="ui-sans-serif"/>
              </a:rPr>
              <a:t>)* </a:t>
            </a:r>
            <a:r>
              <a:rPr lang="en-US" sz="1000" b="0" i="0" u="none" strike="noStrike" dirty="0">
                <a:solidFill>
                  <a:srgbClr val="2964AA"/>
                </a:solidFill>
                <a:effectLst/>
                <a:latin typeface="ui-sans-serif"/>
                <a:hlinkClick r:id="rId3"/>
              </a:rPr>
              <a:t>sites.pitt.edu</a:t>
            </a:r>
            <a:endParaRPr lang="en-US" sz="1000" b="0" i="0" dirty="0">
              <a:solidFill>
                <a:srgbClr val="0D0D0D"/>
              </a:solidFill>
              <a:effectLst/>
              <a:latin typeface="ui-sans-serif"/>
            </a:endParaRPr>
          </a:p>
          <a:p>
            <a:pPr algn="l">
              <a:spcBef>
                <a:spcPts val="2400"/>
              </a:spcBef>
              <a:spcAft>
                <a:spcPts val="1200"/>
              </a:spcAft>
              <a:buNone/>
            </a:pPr>
            <a:r>
              <a:rPr lang="en-US" sz="1000" b="1" i="0" dirty="0">
                <a:solidFill>
                  <a:srgbClr val="0D0D0D"/>
                </a:solidFill>
                <a:effectLst/>
                <a:latin typeface="ui-sans-serif"/>
              </a:rPr>
              <a:t>Early English Translations (Faithful to Original Style)</a:t>
            </a:r>
          </a:p>
          <a:p>
            <a:pPr algn="l" fontAlgn="t">
              <a:spcAft>
                <a:spcPts val="1200"/>
              </a:spcAft>
              <a:buFont typeface="Arial" panose="020B0604020202020204" pitchFamily="34" charset="0"/>
              <a:buChar char="•"/>
            </a:pPr>
            <a:r>
              <a:rPr lang="en-US" sz="1000" b="1" i="0" dirty="0">
                <a:solidFill>
                  <a:srgbClr val="0D0D0D"/>
                </a:solidFill>
                <a:effectLst/>
                <a:latin typeface="ui-sans-serif"/>
              </a:rPr>
              <a:t>Grimm’s Household Tales (1884)</a:t>
            </a:r>
            <a:r>
              <a:rPr lang="en-US" sz="1000" b="0" i="0" dirty="0">
                <a:solidFill>
                  <a:srgbClr val="0D0D0D"/>
                </a:solidFill>
                <a:effectLst/>
                <a:latin typeface="ui-sans-serif"/>
              </a:rPr>
              <a:t> – </a:t>
            </a:r>
            <a:r>
              <a:rPr lang="en-US" sz="1000" b="0" i="1" dirty="0">
                <a:solidFill>
                  <a:srgbClr val="0D0D0D"/>
                </a:solidFill>
                <a:effectLst/>
                <a:latin typeface="ui-sans-serif"/>
              </a:rPr>
              <a:t>Translated by Margaret Hunt.</a:t>
            </a:r>
            <a:r>
              <a:rPr lang="en-US" sz="1000" b="0" i="0" dirty="0">
                <a:solidFill>
                  <a:srgbClr val="0D0D0D"/>
                </a:solidFill>
                <a:effectLst/>
                <a:latin typeface="ui-sans-serif"/>
              </a:rPr>
              <a:t> This is a </a:t>
            </a:r>
            <a:r>
              <a:rPr lang="en-US" sz="1000" b="1" i="0" dirty="0">
                <a:solidFill>
                  <a:srgbClr val="0D0D0D"/>
                </a:solidFill>
                <a:effectLst/>
                <a:latin typeface="ui-sans-serif"/>
              </a:rPr>
              <a:t>complete English translation</a:t>
            </a:r>
            <a:r>
              <a:rPr lang="en-US" sz="1000" b="0" i="0" dirty="0">
                <a:solidFill>
                  <a:srgbClr val="0D0D0D"/>
                </a:solidFill>
                <a:effectLst/>
                <a:latin typeface="ui-sans-serif"/>
              </a:rPr>
              <a:t> of </a:t>
            </a:r>
            <a:r>
              <a:rPr lang="en-US" sz="1000" b="1" i="0" dirty="0">
                <a:solidFill>
                  <a:srgbClr val="0D0D0D"/>
                </a:solidFill>
                <a:effectLst/>
                <a:latin typeface="ui-sans-serif"/>
              </a:rPr>
              <a:t>all 156 tales</a:t>
            </a:r>
            <a:r>
              <a:rPr lang="en-US" sz="1000" b="0" i="0" dirty="0">
                <a:solidFill>
                  <a:srgbClr val="0D0D0D"/>
                </a:solidFill>
                <a:effectLst/>
                <a:latin typeface="ui-sans-serif"/>
              </a:rPr>
              <a:t> from the Grimms’ collection, based on the final German edition but very faithful in language. Hunt’s translation is literal and retains old-fashioned phrasing, closely mirroring the original German style. It was published in two volumes with the Grimms’ own annotations (</a:t>
            </a:r>
            <a:r>
              <a:rPr lang="en-US" sz="1000" b="0" i="1" dirty="0">
                <a:solidFill>
                  <a:srgbClr val="0D0D0D"/>
                </a:solidFill>
                <a:effectLst/>
                <a:latin typeface="ui-sans-serif"/>
              </a:rPr>
              <a:t>“with the authors’ notes”</a:t>
            </a:r>
            <a:r>
              <a:rPr lang="en-US" sz="1000" b="0" i="0" dirty="0">
                <a:solidFill>
                  <a:srgbClr val="0D0D0D"/>
                </a:solidFill>
                <a:effectLst/>
                <a:latin typeface="ui-sans-serif"/>
              </a:rPr>
              <a:t>)​</a:t>
            </a:r>
            <a:r>
              <a:rPr lang="en-US" sz="1000" b="0" i="0" u="none" strike="noStrike" dirty="0">
                <a:solidFill>
                  <a:srgbClr val="2964AA"/>
                </a:solidFill>
                <a:effectLst/>
                <a:latin typeface="ui-sans-serif"/>
                <a:hlinkClick r:id="rId5"/>
              </a:rPr>
              <a:t>archive.org</a:t>
            </a:r>
            <a:r>
              <a:rPr lang="en-US" sz="1000" b="0" i="0" dirty="0">
                <a:solidFill>
                  <a:srgbClr val="0D0D0D"/>
                </a:solidFill>
                <a:effectLst/>
                <a:latin typeface="ui-sans-serif"/>
              </a:rPr>
              <a:t>. </a:t>
            </a:r>
            <a:r>
              <a:rPr lang="en-US" sz="1000" b="1" i="0" dirty="0">
                <a:solidFill>
                  <a:srgbClr val="0D0D0D"/>
                </a:solidFill>
                <a:effectLst/>
                <a:latin typeface="ui-sans-serif"/>
              </a:rPr>
              <a:t>Vol. 1 (1884)</a:t>
            </a:r>
            <a:r>
              <a:rPr lang="en-US" sz="1000" b="0" i="0" dirty="0">
                <a:solidFill>
                  <a:srgbClr val="0D0D0D"/>
                </a:solidFill>
                <a:effectLst/>
                <a:latin typeface="ui-sans-serif"/>
              </a:rPr>
              <a:t> is available on Internet Archive (London: G. Bell &amp; Sons) – PDF download​</a:t>
            </a:r>
            <a:r>
              <a:rPr lang="en-US" sz="1000" b="0" i="0" u="none" strike="noStrike" dirty="0">
                <a:solidFill>
                  <a:srgbClr val="2964AA"/>
                </a:solidFill>
                <a:effectLst/>
                <a:latin typeface="ui-sans-serif"/>
                <a:hlinkClick r:id="rId6"/>
              </a:rPr>
              <a:t>archive.org</a:t>
            </a:r>
            <a:r>
              <a:rPr lang="en-US" sz="1000" b="0" i="0" dirty="0">
                <a:solidFill>
                  <a:srgbClr val="0D0D0D"/>
                </a:solidFill>
                <a:effectLst/>
                <a:latin typeface="ui-sans-serif"/>
              </a:rPr>
              <a:t>. </a:t>
            </a:r>
            <a:r>
              <a:rPr lang="en-US" sz="1000" b="0" i="1" dirty="0">
                <a:solidFill>
                  <a:srgbClr val="0D0D0D"/>
                </a:solidFill>
                <a:effectLst/>
                <a:latin typeface="ui-sans-serif"/>
              </a:rPr>
              <a:t>Publication details:</a:t>
            </a:r>
            <a:r>
              <a:rPr lang="en-US" sz="1000" b="0" i="0" dirty="0">
                <a:solidFill>
                  <a:srgbClr val="0D0D0D"/>
                </a:solidFill>
                <a:effectLst/>
                <a:latin typeface="ui-sans-serif"/>
              </a:rPr>
              <a:t> Hunt, under the name Mrs. A. Hunt, edited with Andrew Lang; first published 1884 (now public domain)​</a:t>
            </a:r>
            <a:r>
              <a:rPr lang="en-US" sz="1000" b="0" i="0" u="none" strike="noStrike" dirty="0">
                <a:solidFill>
                  <a:srgbClr val="2964AA"/>
                </a:solidFill>
                <a:effectLst/>
                <a:latin typeface="ui-sans-serif"/>
                <a:hlinkClick r:id="rId7"/>
              </a:rPr>
              <a:t>archive.org</a:t>
            </a:r>
            <a:r>
              <a:rPr lang="en-US" sz="1000" b="0" i="0" dirty="0">
                <a:solidFill>
                  <a:srgbClr val="0D0D0D"/>
                </a:solidFill>
                <a:effectLst/>
                <a:latin typeface="ui-sans-serif"/>
              </a:rPr>
              <a:t>. </a:t>
            </a:r>
            <a:r>
              <a:rPr lang="en-US" sz="1000" b="0" i="1" dirty="0">
                <a:solidFill>
                  <a:srgbClr val="0D0D0D"/>
                </a:solidFill>
                <a:effectLst/>
                <a:latin typeface="ui-sans-serif"/>
              </a:rPr>
              <a:t>Faithfulness:</a:t>
            </a:r>
            <a:r>
              <a:rPr lang="en-US" sz="1000" b="0" i="0" dirty="0">
                <a:solidFill>
                  <a:srgbClr val="0D0D0D"/>
                </a:solidFill>
                <a:effectLst/>
                <a:latin typeface="ui-sans-serif"/>
              </a:rPr>
              <a:t> Hunt’s version is considered the </a:t>
            </a:r>
            <a:r>
              <a:rPr lang="en-US" sz="1000" b="1" i="0" dirty="0">
                <a:solidFill>
                  <a:srgbClr val="0D0D0D"/>
                </a:solidFill>
                <a:effectLst/>
                <a:latin typeface="ui-sans-serif"/>
              </a:rPr>
              <a:t>standard scholarly translation</a:t>
            </a:r>
            <a:r>
              <a:rPr lang="en-US" sz="1000" b="0" i="0" dirty="0">
                <a:solidFill>
                  <a:srgbClr val="0D0D0D"/>
                </a:solidFill>
                <a:effectLst/>
                <a:latin typeface="ui-sans-serif"/>
              </a:rPr>
              <a:t>​</a:t>
            </a:r>
            <a:r>
              <a:rPr lang="en-US" sz="1000" b="0" i="0" u="none" strike="noStrike" dirty="0">
                <a:solidFill>
                  <a:srgbClr val="2964AA"/>
                </a:solidFill>
                <a:effectLst/>
                <a:latin typeface="ui-sans-serif"/>
                <a:hlinkClick r:id="rId8"/>
              </a:rPr>
              <a:t>reddit.com</a:t>
            </a:r>
            <a:r>
              <a:rPr lang="en-US" sz="1000" b="0" i="0" dirty="0">
                <a:solidFill>
                  <a:srgbClr val="0D0D0D"/>
                </a:solidFill>
                <a:effectLst/>
                <a:latin typeface="ui-sans-serif"/>
              </a:rPr>
              <a:t>, preserving the content without bowdlerization. (Volume 2 of Hunt’s </a:t>
            </a:r>
            <a:r>
              <a:rPr lang="en-US" sz="1000" b="0" i="1" dirty="0">
                <a:solidFill>
                  <a:srgbClr val="0D0D0D"/>
                </a:solidFill>
                <a:effectLst/>
                <a:latin typeface="ui-sans-serif"/>
              </a:rPr>
              <a:t>Household Tales</a:t>
            </a:r>
            <a:r>
              <a:rPr lang="en-US" sz="1000" b="0" i="0" dirty="0">
                <a:solidFill>
                  <a:srgbClr val="0D0D0D"/>
                </a:solidFill>
                <a:effectLst/>
                <a:latin typeface="ui-sans-serif"/>
              </a:rPr>
              <a:t> (tales 87–156) is also on Internet Archive, completing the first-edition tale set.)</a:t>
            </a:r>
          </a:p>
          <a:p>
            <a:pPr algn="l" fontAlgn="t">
              <a:spcAft>
                <a:spcPts val="1200"/>
              </a:spcAft>
              <a:buFont typeface="Arial" panose="020B0604020202020204" pitchFamily="34" charset="0"/>
              <a:buChar char="•"/>
            </a:pPr>
            <a:r>
              <a:rPr lang="en-US" sz="1000" b="1" i="0" dirty="0">
                <a:solidFill>
                  <a:srgbClr val="0D0D0D"/>
                </a:solidFill>
                <a:effectLst/>
                <a:latin typeface="ui-sans-serif"/>
              </a:rPr>
              <a:t>Household Stories from the Collection of the Bros. Grimm (1886)</a:t>
            </a:r>
            <a:r>
              <a:rPr lang="en-US" sz="1000" b="0" i="0" dirty="0">
                <a:solidFill>
                  <a:srgbClr val="0D0D0D"/>
                </a:solidFill>
                <a:effectLst/>
                <a:latin typeface="ui-sans-serif"/>
              </a:rPr>
              <a:t> – </a:t>
            </a:r>
            <a:r>
              <a:rPr lang="en-US" sz="1000" b="0" i="1" dirty="0">
                <a:solidFill>
                  <a:srgbClr val="0D0D0D"/>
                </a:solidFill>
                <a:effectLst/>
                <a:latin typeface="ui-sans-serif"/>
              </a:rPr>
              <a:t>Translated by Lucy Crane.</a:t>
            </a:r>
            <a:r>
              <a:rPr lang="en-US" sz="1000" b="0" i="0" dirty="0">
                <a:solidFill>
                  <a:srgbClr val="0D0D0D"/>
                </a:solidFill>
                <a:effectLst/>
                <a:latin typeface="ui-sans-serif"/>
              </a:rPr>
              <a:t> An earlier English edition oriented toward children, containing </a:t>
            </a:r>
            <a:r>
              <a:rPr lang="en-US" sz="1000" b="1" i="0" dirty="0">
                <a:solidFill>
                  <a:srgbClr val="0D0D0D"/>
                </a:solidFill>
                <a:effectLst/>
                <a:latin typeface="ui-sans-serif"/>
              </a:rPr>
              <a:t>53 of the tales</a:t>
            </a:r>
            <a:r>
              <a:rPr lang="en-US" sz="1000" b="0" i="0" dirty="0">
                <a:solidFill>
                  <a:srgbClr val="0D0D0D"/>
                </a:solidFill>
                <a:effectLst/>
                <a:latin typeface="ui-sans-serif"/>
              </a:rPr>
              <a:t> with illustrations by Walter Crane. Published by Macmillan in 1886, it is an </a:t>
            </a:r>
            <a:r>
              <a:rPr lang="en-US" sz="1000" b="1" i="0" dirty="0">
                <a:solidFill>
                  <a:srgbClr val="0D0D0D"/>
                </a:solidFill>
                <a:effectLst/>
                <a:latin typeface="ui-sans-serif"/>
              </a:rPr>
              <a:t>unabridged</a:t>
            </a:r>
            <a:r>
              <a:rPr lang="en-US" sz="1000" b="0" i="0" dirty="0">
                <a:solidFill>
                  <a:srgbClr val="0D0D0D"/>
                </a:solidFill>
                <a:effectLst/>
                <a:latin typeface="ui-sans-serif"/>
              </a:rPr>
              <a:t> translation of those selected stories​</a:t>
            </a:r>
            <a:r>
              <a:rPr lang="en-US" sz="1000" b="0" i="0" u="none" strike="noStrike" dirty="0">
                <a:solidFill>
                  <a:srgbClr val="2964AA"/>
                </a:solidFill>
                <a:effectLst/>
                <a:latin typeface="ui-sans-serif"/>
                <a:hlinkClick r:id="rId9"/>
              </a:rPr>
              <a:t>gutenberg.org</a:t>
            </a:r>
            <a:r>
              <a:rPr lang="en-US" sz="1000" b="0" i="0" dirty="0">
                <a:solidFill>
                  <a:srgbClr val="0D0D0D"/>
                </a:solidFill>
                <a:effectLst/>
                <a:latin typeface="ui-sans-serif"/>
              </a:rPr>
              <a:t>. Lucy Crane’s translation is graceful but still </a:t>
            </a:r>
            <a:r>
              <a:rPr lang="en-US" sz="1000" b="1" i="0" dirty="0">
                <a:solidFill>
                  <a:srgbClr val="0D0D0D"/>
                </a:solidFill>
                <a:effectLst/>
                <a:latin typeface="ui-sans-serif"/>
              </a:rPr>
              <a:t>largely faithful</a:t>
            </a:r>
            <a:r>
              <a:rPr lang="en-US" sz="1000" b="0" i="0" dirty="0">
                <a:solidFill>
                  <a:srgbClr val="0D0D0D"/>
                </a:solidFill>
                <a:effectLst/>
                <a:latin typeface="ui-sans-serif"/>
              </a:rPr>
              <a:t> to the Grimms’ wording (omitting some tales rather than altering them). A free e-book (HTML/EPUB) is available via Project Gutenberg (eBook #19068) and a PDF can be created from that text. </a:t>
            </a:r>
            <a:r>
              <a:rPr lang="en-US" sz="1000" b="0" i="1" dirty="0">
                <a:solidFill>
                  <a:srgbClr val="0D0D0D"/>
                </a:solidFill>
                <a:effectLst/>
                <a:latin typeface="ui-sans-serif"/>
              </a:rPr>
              <a:t>Publication:</a:t>
            </a:r>
            <a:r>
              <a:rPr lang="en-US" sz="1000" b="0" i="0" dirty="0">
                <a:solidFill>
                  <a:srgbClr val="0D0D0D"/>
                </a:solidFill>
                <a:effectLst/>
                <a:latin typeface="ui-sans-serif"/>
              </a:rPr>
              <a:t> London, 1886 (public domain)​</a:t>
            </a:r>
            <a:r>
              <a:rPr lang="en-US" sz="1000" b="0" i="0" u="none" strike="noStrike" dirty="0">
                <a:solidFill>
                  <a:srgbClr val="2964AA"/>
                </a:solidFill>
                <a:effectLst/>
                <a:latin typeface="ui-sans-serif"/>
                <a:hlinkClick r:id="rId10"/>
              </a:rPr>
              <a:t>abebooks.com</a:t>
            </a:r>
            <a:r>
              <a:rPr lang="en-US" sz="1000" b="0" i="0" dirty="0">
                <a:solidFill>
                  <a:srgbClr val="0D0D0D"/>
                </a:solidFill>
                <a:effectLst/>
                <a:latin typeface="ui-sans-serif"/>
              </a:rPr>
              <a:t>​</a:t>
            </a:r>
            <a:r>
              <a:rPr lang="en-US" sz="1000" b="0" i="0" u="none" strike="noStrike" dirty="0">
                <a:solidFill>
                  <a:srgbClr val="2964AA"/>
                </a:solidFill>
                <a:effectLst/>
                <a:latin typeface="ui-sans-serif"/>
                <a:hlinkClick r:id="rId9"/>
              </a:rPr>
              <a:t>gutenberg.org</a:t>
            </a:r>
            <a:r>
              <a:rPr lang="en-US" sz="1000" b="0" i="0" dirty="0">
                <a:solidFill>
                  <a:srgbClr val="0D0D0D"/>
                </a:solidFill>
                <a:effectLst/>
                <a:latin typeface="ui-sans-serif"/>
              </a:rPr>
              <a:t>. </a:t>
            </a:r>
            <a:r>
              <a:rPr lang="en-US" sz="1000" b="0" i="1" dirty="0">
                <a:solidFill>
                  <a:srgbClr val="0D0D0D"/>
                </a:solidFill>
                <a:effectLst/>
                <a:latin typeface="ui-sans-serif"/>
              </a:rPr>
              <a:t>Note:</a:t>
            </a:r>
            <a:r>
              <a:rPr lang="en-US" sz="1000" b="0" i="0" dirty="0">
                <a:solidFill>
                  <a:srgbClr val="0D0D0D"/>
                </a:solidFill>
                <a:effectLst/>
                <a:latin typeface="ui-sans-serif"/>
              </a:rPr>
              <a:t> While not comprehensive, it presents many popular tales in dual-language context if read alongside the German original.</a:t>
            </a:r>
          </a:p>
          <a:p>
            <a:pPr algn="l" fontAlgn="t">
              <a:spcAft>
                <a:spcPts val="1200"/>
              </a:spcAft>
              <a:buFont typeface="Arial" panose="020B0604020202020204" pitchFamily="34" charset="0"/>
              <a:buChar char="•"/>
            </a:pPr>
            <a:r>
              <a:rPr lang="en-US" sz="1000" b="1" i="0" dirty="0">
                <a:solidFill>
                  <a:srgbClr val="0D0D0D"/>
                </a:solidFill>
                <a:effectLst/>
                <a:latin typeface="ui-sans-serif"/>
              </a:rPr>
              <a:t>German Popular Stories (Vol. 1 &amp; 2, 1823–1826)</a:t>
            </a:r>
            <a:r>
              <a:rPr lang="en-US" sz="1000" b="0" i="0" dirty="0">
                <a:solidFill>
                  <a:srgbClr val="0D0D0D"/>
                </a:solidFill>
                <a:effectLst/>
                <a:latin typeface="ui-sans-serif"/>
              </a:rPr>
              <a:t> – </a:t>
            </a:r>
            <a:r>
              <a:rPr lang="en-US" sz="1000" b="0" i="1" dirty="0">
                <a:solidFill>
                  <a:srgbClr val="0D0D0D"/>
                </a:solidFill>
                <a:effectLst/>
                <a:latin typeface="ui-sans-serif"/>
              </a:rPr>
              <a:t>Translated by Edgar Taylor.</a:t>
            </a:r>
            <a:r>
              <a:rPr lang="en-US" sz="1000" b="0" i="0" dirty="0">
                <a:solidFill>
                  <a:srgbClr val="0D0D0D"/>
                </a:solidFill>
                <a:effectLst/>
                <a:latin typeface="ui-sans-serif"/>
              </a:rPr>
              <a:t> These were the </a:t>
            </a:r>
            <a:r>
              <a:rPr lang="en-US" sz="1000" b="1" i="0" dirty="0">
                <a:solidFill>
                  <a:srgbClr val="0D0D0D"/>
                </a:solidFill>
                <a:effectLst/>
                <a:latin typeface="ui-sans-serif"/>
              </a:rPr>
              <a:t>first English translations</a:t>
            </a:r>
            <a:r>
              <a:rPr lang="en-US" sz="1000" b="0" i="0" dirty="0">
                <a:solidFill>
                  <a:srgbClr val="0D0D0D"/>
                </a:solidFill>
                <a:effectLst/>
                <a:latin typeface="ui-sans-serif"/>
              </a:rPr>
              <a:t> of Grimm tales, published in 1820s with illustrations by George Cruikshank. Taylor’s two small volumes (often titled </a:t>
            </a:r>
            <a:r>
              <a:rPr lang="en-US" sz="1000" b="0" i="1" dirty="0">
                <a:solidFill>
                  <a:srgbClr val="0D0D0D"/>
                </a:solidFill>
                <a:effectLst/>
                <a:latin typeface="ui-sans-serif"/>
              </a:rPr>
              <a:t>“German Popular Stories”</a:t>
            </a:r>
            <a:r>
              <a:rPr lang="en-US" sz="1000" b="0" i="0" dirty="0">
                <a:solidFill>
                  <a:srgbClr val="0D0D0D"/>
                </a:solidFill>
                <a:effectLst/>
                <a:latin typeface="ui-sans-serif"/>
              </a:rPr>
              <a:t>) introduced about 50 Grimm tales to English readers. They are available on Internet Archive (e.g. an 1868 reprint with both volumes). </a:t>
            </a:r>
            <a:r>
              <a:rPr lang="en-US" sz="1000" b="0" i="1" dirty="0">
                <a:solidFill>
                  <a:srgbClr val="0D0D0D"/>
                </a:solidFill>
                <a:effectLst/>
                <a:latin typeface="ui-sans-serif"/>
              </a:rPr>
              <a:t>Note on faithfulness:</a:t>
            </a:r>
            <a:r>
              <a:rPr lang="en-US" sz="1000" b="0" i="0" dirty="0">
                <a:solidFill>
                  <a:srgbClr val="0D0D0D"/>
                </a:solidFill>
                <a:effectLst/>
                <a:latin typeface="ui-sans-serif"/>
              </a:rPr>
              <a:t> Taylor took some liberties – he selected tales from the early editions and smoothed out or omitted passages to suit Victorian tastes. For instance, certain details were sanitized or moralized. Thus, while historically important, Taylor’s renditions are </a:t>
            </a:r>
            <a:r>
              <a:rPr lang="en-US" sz="1000" b="1" i="0" dirty="0">
                <a:solidFill>
                  <a:srgbClr val="0D0D0D"/>
                </a:solidFill>
                <a:effectLst/>
                <a:latin typeface="ui-sans-serif"/>
              </a:rPr>
              <a:t>not as verbatim</a:t>
            </a:r>
            <a:r>
              <a:rPr lang="en-US" sz="1000" b="0" i="0" dirty="0">
                <a:solidFill>
                  <a:srgbClr val="0D0D0D"/>
                </a:solidFill>
                <a:effectLst/>
                <a:latin typeface="ui-sans-serif"/>
              </a:rPr>
              <a:t> as Hunt’s. </a:t>
            </a:r>
            <a:r>
              <a:rPr lang="en-US" sz="1000" b="0" i="1" dirty="0">
                <a:solidFill>
                  <a:srgbClr val="0D0D0D"/>
                </a:solidFill>
                <a:effectLst/>
                <a:latin typeface="ui-sans-serif"/>
              </a:rPr>
              <a:t>(Project Gutenberg’s “Grimm’s Fairy Tales” </a:t>
            </a:r>
            <a:r>
              <a:rPr lang="en-US" sz="1000" b="0" i="1" dirty="0" err="1">
                <a:solidFill>
                  <a:srgbClr val="0D0D0D"/>
                </a:solidFill>
                <a:effectLst/>
                <a:latin typeface="ui-sans-serif"/>
              </a:rPr>
              <a:t>etext</a:t>
            </a:r>
            <a:r>
              <a:rPr lang="en-US" sz="1000" b="0" i="1" dirty="0">
                <a:solidFill>
                  <a:srgbClr val="0D0D0D"/>
                </a:solidFill>
                <a:effectLst/>
                <a:latin typeface="ui-sans-serif"/>
              </a:rPr>
              <a:t> combines stories from Taylor and later translator Marian Edwardes​</a:t>
            </a:r>
            <a:r>
              <a:rPr lang="en-US" sz="1000" b="0" i="1" u="none" strike="noStrike" dirty="0">
                <a:solidFill>
                  <a:srgbClr val="2964AA"/>
                </a:solidFill>
                <a:effectLst/>
                <a:latin typeface="ui-sans-serif"/>
                <a:hlinkClick r:id="rId11"/>
              </a:rPr>
              <a:t>onlinebooks.library.upenn.edu</a:t>
            </a:r>
            <a:r>
              <a:rPr lang="en-US" sz="1000" b="0" i="1" dirty="0">
                <a:solidFill>
                  <a:srgbClr val="0D0D0D"/>
                </a:solidFill>
                <a:effectLst/>
                <a:latin typeface="ui-sans-serif"/>
              </a:rPr>
              <a:t>.)</a:t>
            </a:r>
            <a:r>
              <a:rPr lang="en-US" sz="1000" b="0" i="0" dirty="0">
                <a:solidFill>
                  <a:srgbClr val="0D0D0D"/>
                </a:solidFill>
                <a:effectLst/>
                <a:latin typeface="ui-sans-serif"/>
              </a:rPr>
              <a:t> Still, PDFs of </a:t>
            </a:r>
            <a:r>
              <a:rPr lang="en-US" sz="1000" b="1" i="0" dirty="0">
                <a:solidFill>
                  <a:srgbClr val="0D0D0D"/>
                </a:solidFill>
                <a:effectLst/>
                <a:latin typeface="ui-sans-serif"/>
              </a:rPr>
              <a:t>“German Popular Stories”</a:t>
            </a:r>
            <a:r>
              <a:rPr lang="en-US" sz="1000" b="0" i="0" dirty="0">
                <a:solidFill>
                  <a:srgbClr val="0D0D0D"/>
                </a:solidFill>
                <a:effectLst/>
                <a:latin typeface="ui-sans-serif"/>
              </a:rPr>
              <a:t> can be obtained (see Archive.org) for comparison with the German first edition.</a:t>
            </a:r>
          </a:p>
          <a:p>
            <a:pPr algn="l" fontAlgn="t">
              <a:buNone/>
            </a:pPr>
            <a:r>
              <a:rPr lang="en-US" sz="1000" b="0" i="0" dirty="0">
                <a:solidFill>
                  <a:srgbClr val="0D0D0D"/>
                </a:solidFill>
                <a:effectLst/>
                <a:latin typeface="ui-sans-serif"/>
              </a:rPr>
              <a:t>Each source above is </a:t>
            </a:r>
            <a:r>
              <a:rPr lang="en-US" sz="1000" b="1" i="0" dirty="0">
                <a:solidFill>
                  <a:srgbClr val="0D0D0D"/>
                </a:solidFill>
                <a:effectLst/>
                <a:latin typeface="ui-sans-serif"/>
              </a:rPr>
              <a:t>public domain</a:t>
            </a:r>
            <a:r>
              <a:rPr lang="en-US" sz="1000" b="0" i="0" dirty="0">
                <a:solidFill>
                  <a:srgbClr val="0D0D0D"/>
                </a:solidFill>
                <a:effectLst/>
                <a:latin typeface="ui-sans-serif"/>
              </a:rPr>
              <a:t>. The German first-edition volumes offer the </a:t>
            </a:r>
            <a:r>
              <a:rPr lang="en-US" sz="1000" b="1" i="0" dirty="0">
                <a:solidFill>
                  <a:srgbClr val="0D0D0D"/>
                </a:solidFill>
                <a:effectLst/>
                <a:latin typeface="ui-sans-serif"/>
              </a:rPr>
              <a:t>original text</a:t>
            </a:r>
            <a:r>
              <a:rPr lang="en-US" sz="1000" b="0" i="0" dirty="0">
                <a:solidFill>
                  <a:srgbClr val="0D0D0D"/>
                </a:solidFill>
                <a:effectLst/>
                <a:latin typeface="ui-sans-serif"/>
              </a:rPr>
              <a:t> as collected by Jacob and Wilhelm Grimm in 1812/1815. The English translations by Hunt (1884) – and to a lesser extent Lucy Crane (1886) – strive to </a:t>
            </a:r>
            <a:r>
              <a:rPr lang="en-US" sz="1000" b="1" i="0" dirty="0">
                <a:solidFill>
                  <a:srgbClr val="0D0D0D"/>
                </a:solidFill>
                <a:effectLst/>
                <a:latin typeface="ui-sans-serif"/>
              </a:rPr>
              <a:t>faithfully preserve the original wording and style</a:t>
            </a:r>
            <a:r>
              <a:rPr lang="en-US" sz="1000" b="0" i="0" dirty="0">
                <a:solidFill>
                  <a:srgbClr val="0D0D0D"/>
                </a:solidFill>
                <a:effectLst/>
                <a:latin typeface="ui-sans-serif"/>
              </a:rPr>
              <a:t>, making them suitable for side-by-side reading with the German. Direct download links for scanned PDFs are available via the Internet Archive for both the German volumes and the English translations (see references). By using these in tandem, one can effectively achieve a bilingual reading experience of the Grimms’ first edition tales.</a:t>
            </a:r>
          </a:p>
          <a:p>
            <a:pPr algn="l" fontAlgn="t"/>
            <a:r>
              <a:rPr lang="en-US" sz="1000" b="0" i="0" dirty="0">
                <a:solidFill>
                  <a:srgbClr val="0D0D0D"/>
                </a:solidFill>
                <a:effectLst/>
                <a:latin typeface="ui-sans-serif"/>
              </a:rPr>
              <a:t> </a:t>
            </a:r>
            <a:r>
              <a:rPr lang="en-US" sz="1000" b="1" i="0" dirty="0">
                <a:solidFill>
                  <a:srgbClr val="0D0D0D"/>
                </a:solidFill>
                <a:effectLst/>
                <a:latin typeface="ui-sans-serif"/>
              </a:rPr>
              <a:t>Sources:</a:t>
            </a:r>
            <a:r>
              <a:rPr lang="en-US" sz="1000" b="0" i="0" dirty="0">
                <a:solidFill>
                  <a:srgbClr val="0D0D0D"/>
                </a:solidFill>
                <a:effectLst/>
                <a:latin typeface="ui-sans-serif"/>
              </a:rPr>
              <a:t> The Grimm Brothers’ own prefaces and notes (1812/1815); University of Pittsburgh’s Grimm archive​</a:t>
            </a:r>
            <a:r>
              <a:rPr lang="en-US" sz="1000" b="0" i="0" u="none" strike="noStrike" dirty="0">
                <a:solidFill>
                  <a:srgbClr val="2964AA"/>
                </a:solidFill>
                <a:effectLst/>
                <a:latin typeface="ui-sans-serif"/>
                <a:hlinkClick r:id="rId3"/>
              </a:rPr>
              <a:t>sites.pitt.edu</a:t>
            </a:r>
            <a:r>
              <a:rPr lang="en-US" sz="1000" b="0" i="0" dirty="0">
                <a:solidFill>
                  <a:srgbClr val="0D0D0D"/>
                </a:solidFill>
                <a:effectLst/>
                <a:latin typeface="ui-sans-serif"/>
              </a:rPr>
              <a:t>; Internet Archive records for </a:t>
            </a:r>
            <a:r>
              <a:rPr lang="en-US" sz="1050" b="1" i="0" dirty="0">
                <a:solidFill>
                  <a:srgbClr val="0D0D0D"/>
                </a:solidFill>
                <a:effectLst/>
                <a:latin typeface="ui-sans-serif"/>
              </a:rPr>
              <a:t>1884 Hunt translation</a:t>
            </a:r>
            <a:r>
              <a:rPr lang="en-US" sz="1050" b="0" i="0" dirty="0">
                <a:solidFill>
                  <a:srgbClr val="0D0D0D"/>
                </a:solidFill>
                <a:effectLst/>
                <a:latin typeface="ui-sans-serif"/>
              </a:rPr>
              <a:t>​</a:t>
            </a:r>
            <a:r>
              <a:rPr lang="en-US" sz="1050" b="0" i="0" u="none" strike="noStrike" dirty="0">
                <a:solidFill>
                  <a:srgbClr val="2964AA"/>
                </a:solidFill>
                <a:effectLst/>
                <a:latin typeface="ui-sans-serif"/>
                <a:hlinkClick r:id="rId7"/>
              </a:rPr>
              <a:t>archive.org</a:t>
            </a:r>
            <a:r>
              <a:rPr lang="en-US" sz="1050" b="0" i="0" dirty="0">
                <a:solidFill>
                  <a:srgbClr val="0D0D0D"/>
                </a:solidFill>
                <a:effectLst/>
                <a:latin typeface="ui-sans-serif"/>
              </a:rPr>
              <a:t>​</a:t>
            </a:r>
            <a:r>
              <a:rPr lang="en-US" sz="1050" b="0" i="0" u="none" strike="noStrike" dirty="0">
                <a:solidFill>
                  <a:srgbClr val="2964AA"/>
                </a:solidFill>
                <a:effectLst/>
                <a:latin typeface="ui-sans-serif"/>
                <a:hlinkClick r:id="rId6"/>
              </a:rPr>
              <a:t>archive.org</a:t>
            </a:r>
            <a:r>
              <a:rPr lang="en-US" sz="1050" b="0" i="0" dirty="0">
                <a:solidFill>
                  <a:srgbClr val="0D0D0D"/>
                </a:solidFill>
                <a:effectLst/>
                <a:latin typeface="ui-sans-serif"/>
              </a:rPr>
              <a:t>; commentary on translation fidelity​</a:t>
            </a:r>
            <a:r>
              <a:rPr lang="en-US" sz="1050" b="0" i="0" u="none" strike="noStrike" dirty="0">
                <a:solidFill>
                  <a:srgbClr val="2964AA"/>
                </a:solidFill>
                <a:effectLst/>
                <a:latin typeface="ui-sans-serif"/>
                <a:hlinkClick r:id="rId8"/>
              </a:rPr>
              <a:t>reddit.com</a:t>
            </a:r>
            <a:r>
              <a:rPr lang="en-US" sz="1050" b="0" i="0" dirty="0">
                <a:solidFill>
                  <a:srgbClr val="0D0D0D"/>
                </a:solidFill>
                <a:effectLst/>
                <a:latin typeface="ui-sans-serif"/>
              </a:rPr>
              <a:t>; and bibliographic details of Lucy Crane’s 1886 edition​</a:t>
            </a:r>
            <a:r>
              <a:rPr lang="en-US" sz="1050" b="0" i="0" u="none" strike="noStrike" dirty="0">
                <a:solidFill>
                  <a:srgbClr val="2964AA"/>
                </a:solidFill>
                <a:effectLst/>
                <a:latin typeface="ui-sans-serif"/>
                <a:hlinkClick r:id="rId10"/>
              </a:rPr>
              <a:t>abebooks.com</a:t>
            </a:r>
            <a:r>
              <a:rPr lang="en-US" sz="1050" b="0" i="0" dirty="0">
                <a:solidFill>
                  <a:srgbClr val="0D0D0D"/>
                </a:solidFill>
                <a:effectLst/>
                <a:latin typeface="ui-sans-serif"/>
              </a:rPr>
              <a:t>​</a:t>
            </a:r>
            <a:r>
              <a:rPr lang="en-US" sz="1050" b="0" i="0" u="none" strike="noStrike" dirty="0">
                <a:solidFill>
                  <a:srgbClr val="2964AA"/>
                </a:solidFill>
                <a:effectLst/>
                <a:latin typeface="ui-sans-serif"/>
                <a:hlinkClick r:id="rId9"/>
              </a:rPr>
              <a:t>gutenberg.org</a:t>
            </a:r>
            <a:r>
              <a:rPr lang="en-US" sz="1050" b="0" i="0" dirty="0">
                <a:solidFill>
                  <a:srgbClr val="0D0D0D"/>
                </a:solidFill>
                <a:effectLst/>
                <a:latin typeface="ui-sans-serif"/>
              </a:rPr>
              <a:t>. (All linked sources are open-access.)</a:t>
            </a:r>
          </a:p>
        </p:txBody>
      </p:sp>
    </p:spTree>
    <p:extLst>
      <p:ext uri="{BB962C8B-B14F-4D97-AF65-F5344CB8AC3E}">
        <p14:creationId xmlns:p14="http://schemas.microsoft.com/office/powerpoint/2010/main" val="4068003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F98A5C-71CD-F5E8-DAE5-60C368F1D41E}"/>
              </a:ext>
            </a:extLst>
          </p:cNvPr>
          <p:cNvSpPr>
            <a:spLocks noChangeArrowheads="1"/>
          </p:cNvSpPr>
          <p:nvPr/>
        </p:nvSpPr>
        <p:spPr bwMode="auto">
          <a:xfrm>
            <a:off x="520996" y="2838893"/>
            <a:ext cx="12192000" cy="0"/>
          </a:xfrm>
          <a:prstGeom prst="rect">
            <a:avLst/>
          </a:prstGeom>
          <a:solidFill>
            <a:srgbClr val="ECECE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ui-sans-serif"/>
              </a:rPr>
              <a:t>Citations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2"/>
              </a:rPr>
              <a:t>      </a:t>
            </a:r>
            <a:endParaRPr kumimoji="0" lang="en-US" altLang="en-US" sz="900" b="0" i="0" u="none" strike="noStrike" cap="none" normalizeH="0" baseline="0" dirty="0">
              <a:ln>
                <a:noFill/>
              </a:ln>
              <a:solidFill>
                <a:srgbClr val="000000"/>
              </a:solidFill>
              <a:effectLst/>
              <a:latin typeface="ui-sans-serif"/>
              <a:hlinkClick r:id="rId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2"/>
              </a:rPr>
              <a:t>Grimms Märchen, Alle 250 Kinder Und </a:t>
            </a:r>
            <a:r>
              <a:rPr kumimoji="0" lang="en-US" altLang="en-US" sz="1200" b="1" i="0" u="none" strike="noStrike" cap="none" normalizeH="0" baseline="0" dirty="0" err="1">
                <a:ln>
                  <a:noFill/>
                </a:ln>
                <a:solidFill>
                  <a:srgbClr val="000000"/>
                </a:solidFill>
                <a:effectLst/>
                <a:latin typeface="ui-sans-serif"/>
                <a:hlinkClick r:id="rId2"/>
              </a:rPr>
              <a:t>Hausmärchen</a:t>
            </a:r>
            <a:r>
              <a:rPr kumimoji="0" lang="en-US" altLang="en-US" sz="1200" b="1" i="0" u="none" strike="noStrike" cap="none" normalizeH="0" baseline="0" dirty="0">
                <a:ln>
                  <a:noFill/>
                </a:ln>
                <a:solidFill>
                  <a:srgbClr val="000000"/>
                </a:solidFill>
                <a:effectLst/>
                <a:latin typeface="ui-sans-serif"/>
                <a:hlinkClick r:id="rId2"/>
              </a:rPr>
              <a:t> Der </a:t>
            </a:r>
            <a:r>
              <a:rPr kumimoji="0" lang="en-US" altLang="en-US" sz="1200" b="1" i="0" u="none" strike="noStrike" cap="none" normalizeH="0" baseline="0" dirty="0" err="1">
                <a:ln>
                  <a:noFill/>
                </a:ln>
                <a:solidFill>
                  <a:srgbClr val="000000"/>
                </a:solidFill>
                <a:effectLst/>
                <a:latin typeface="ui-sans-serif"/>
                <a:hlinkClick r:id="rId2"/>
              </a:rPr>
              <a:t>Brüder</a:t>
            </a:r>
            <a:r>
              <a:rPr kumimoji="0" lang="en-US" altLang="en-US" sz="1200" b="1" i="0" u="none" strike="noStrike" cap="none" normalizeH="0" baseline="0" dirty="0">
                <a:ln>
                  <a:noFill/>
                </a:ln>
                <a:solidFill>
                  <a:srgbClr val="000000"/>
                </a:solidFill>
                <a:effectLst/>
                <a:latin typeface="ui-sans-serif"/>
                <a:hlinkClick r:id="rId2"/>
              </a:rPr>
              <a:t> ...</a:t>
            </a:r>
            <a:endParaRPr kumimoji="0" lang="en-US" altLang="en-US" sz="800" b="0" i="0" u="none" strike="noStrike" cap="none" normalizeH="0" baseline="0" dirty="0">
              <a:ln>
                <a:noFill/>
              </a:ln>
              <a:solidFill>
                <a:srgbClr val="000000"/>
              </a:solidFill>
              <a:effectLst/>
              <a:latin typeface="ui-sans-serif"/>
              <a:hlinkClick r:id="rId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2"/>
              </a:rPr>
              <a:t>https://archive.org/details/grimms-marchen-alle-250-kinder-und-hausmarchen-der-bruder-grimm-editor-lord-henfield-2022</a:t>
            </a:r>
            <a:endParaRPr kumimoji="0" lang="en-US" altLang="en-US" sz="800" b="0" i="0" u="none" strike="noStrike" cap="none" normalizeH="0" baseline="0" dirty="0">
              <a:ln>
                <a:noFill/>
              </a:ln>
              <a:solidFill>
                <a:srgbClr val="000000"/>
              </a:solidFill>
              <a:effectLst/>
              <a:latin typeface="ui-sans-serif"/>
              <a:hlinkClick r:id="rId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3"/>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3"/>
              </a:rPr>
              <a:t>      </a:t>
            </a:r>
            <a:endParaRPr kumimoji="0" lang="en-US" altLang="en-US" sz="900" b="0" i="0" u="none" strike="noStrike" cap="none" normalizeH="0" baseline="0" dirty="0">
              <a:ln>
                <a:noFill/>
              </a:ln>
              <a:solidFill>
                <a:srgbClr val="000000"/>
              </a:solidFill>
              <a:effectLst/>
              <a:latin typeface="ui-sans-serif"/>
              <a:hlinkClick r:id="rId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3"/>
              </a:rPr>
              <a:t>Grimm Brothers' Home Page</a:t>
            </a:r>
            <a:endParaRPr kumimoji="0" lang="en-US" altLang="en-US" sz="800" b="0" i="0" u="none" strike="noStrike" cap="none" normalizeH="0" baseline="0" dirty="0">
              <a:ln>
                <a:noFill/>
              </a:ln>
              <a:solidFill>
                <a:srgbClr val="000000"/>
              </a:solidFill>
              <a:effectLst/>
              <a:latin typeface="ui-sans-serif"/>
              <a:hlinkClick r:id="rId3"/>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3"/>
              </a:rPr>
              <a:t>https://sites.pitt.edu/~dash/grimm.html</a:t>
            </a:r>
            <a:endParaRPr kumimoji="0" lang="en-US" altLang="en-US" sz="800" b="0" i="0" u="none" strike="noStrike" cap="none" normalizeH="0" baseline="0" dirty="0">
              <a:ln>
                <a:noFill/>
              </a:ln>
              <a:solidFill>
                <a:srgbClr val="000000"/>
              </a:solidFill>
              <a:effectLst/>
              <a:latin typeface="ui-sans-serif"/>
              <a:hlinkClick r:id="rId4"/>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4"/>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4"/>
              </a:rPr>
              <a:t>      </a:t>
            </a:r>
            <a:endParaRPr kumimoji="0" lang="en-US" altLang="en-US" sz="900" b="0" i="0" u="none" strike="noStrike" cap="none" normalizeH="0" baseline="0" dirty="0">
              <a:ln>
                <a:noFill/>
              </a:ln>
              <a:solidFill>
                <a:srgbClr val="000000"/>
              </a:solidFill>
              <a:effectLst/>
              <a:latin typeface="ui-sans-serif"/>
              <a:hlinkClick r:id="rId4"/>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4"/>
              </a:rPr>
              <a:t>Grimm Brothers' Home Page</a:t>
            </a:r>
            <a:endParaRPr kumimoji="0" lang="en-US" altLang="en-US" sz="800" b="0" i="0" u="none" strike="noStrike" cap="none" normalizeH="0" baseline="0" dirty="0">
              <a:ln>
                <a:noFill/>
              </a:ln>
              <a:solidFill>
                <a:srgbClr val="000000"/>
              </a:solidFill>
              <a:effectLst/>
              <a:latin typeface="ui-sans-serif"/>
              <a:hlinkClick r:id="rId4"/>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4"/>
              </a:rPr>
              <a:t>https://sites.pitt.edu/~dash/grimm.html</a:t>
            </a:r>
            <a:endParaRPr kumimoji="0" lang="en-US" altLang="en-US" sz="800" b="0" i="0" u="none" strike="noStrike" cap="none" normalizeH="0" baseline="0" dirty="0">
              <a:ln>
                <a:noFill/>
              </a:ln>
              <a:solidFill>
                <a:srgbClr val="000000"/>
              </a:solidFill>
              <a:effectLst/>
              <a:latin typeface="ui-sans-serif"/>
              <a:hlinkClick r:id="rId5"/>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5"/>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5"/>
              </a:rPr>
              <a:t>      </a:t>
            </a:r>
            <a:endParaRPr kumimoji="0" lang="en-US" altLang="en-US" sz="900" b="0" i="0" u="none" strike="noStrike" cap="none" normalizeH="0" baseline="0" dirty="0">
              <a:ln>
                <a:noFill/>
              </a:ln>
              <a:solidFill>
                <a:srgbClr val="000000"/>
              </a:solidFill>
              <a:effectLst/>
              <a:latin typeface="ui-sans-serif"/>
              <a:hlinkClick r:id="rId5"/>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5"/>
              </a:rPr>
              <a:t>Grimm's household tales : with the author's notes. - Internet Archive</a:t>
            </a:r>
            <a:endParaRPr kumimoji="0" lang="en-US" altLang="en-US" sz="800" b="0" i="0" u="none" strike="noStrike" cap="none" normalizeH="0" baseline="0" dirty="0">
              <a:ln>
                <a:noFill/>
              </a:ln>
              <a:solidFill>
                <a:srgbClr val="000000"/>
              </a:solidFill>
              <a:effectLst/>
              <a:latin typeface="ui-sans-serif"/>
              <a:hlinkClick r:id="rId5"/>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5"/>
              </a:rPr>
              <a:t>https://archive.org/details/grimmshouseholdt01grim</a:t>
            </a:r>
            <a:endParaRPr kumimoji="0" lang="en-US" altLang="en-US" sz="800" b="0" i="0" u="none" strike="noStrike" cap="none" normalizeH="0" baseline="0" dirty="0">
              <a:ln>
                <a:noFill/>
              </a:ln>
              <a:solidFill>
                <a:srgbClr val="000000"/>
              </a:solidFill>
              <a:effectLst/>
              <a:latin typeface="ui-sans-serif"/>
              <a:hlinkClick r:id="rId6"/>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6"/>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6"/>
              </a:rPr>
              <a:t>      </a:t>
            </a:r>
            <a:endParaRPr kumimoji="0" lang="en-US" altLang="en-US" sz="900" b="0" i="0" u="none" strike="noStrike" cap="none" normalizeH="0" baseline="0" dirty="0">
              <a:ln>
                <a:noFill/>
              </a:ln>
              <a:solidFill>
                <a:srgbClr val="000000"/>
              </a:solidFill>
              <a:effectLst/>
              <a:latin typeface="ui-sans-serif"/>
              <a:hlinkClick r:id="rId6"/>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6"/>
              </a:rPr>
              <a:t>Grimm's household tales : with the author's notes. : Grimm, Jacob, 1785-1863 : Free Download, Borrow, and Streaming : Internet Archive</a:t>
            </a:r>
            <a:endParaRPr kumimoji="0" lang="en-US" altLang="en-US" sz="800" b="0" i="0" u="none" strike="noStrike" cap="none" normalizeH="0" baseline="0" dirty="0">
              <a:ln>
                <a:noFill/>
              </a:ln>
              <a:solidFill>
                <a:srgbClr val="000000"/>
              </a:solidFill>
              <a:effectLst/>
              <a:latin typeface="ui-sans-serif"/>
              <a:hlinkClick r:id="rId6"/>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6"/>
              </a:rPr>
              <a:t>https://archive.org/details/grimmshouseholdt01grim</a:t>
            </a:r>
            <a:endParaRPr kumimoji="0" lang="en-US" altLang="en-US" sz="800" b="0" i="0" u="none" strike="noStrike" cap="none" normalizeH="0" baseline="0" dirty="0">
              <a:ln>
                <a:noFill/>
              </a:ln>
              <a:solidFill>
                <a:srgbClr val="000000"/>
              </a:solidFill>
              <a:effectLst/>
              <a:latin typeface="ui-sans-serif"/>
              <a:hlinkClick r:id="rId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7"/>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7"/>
              </a:rPr>
              <a:t>      </a:t>
            </a:r>
            <a:endParaRPr kumimoji="0" lang="en-US" altLang="en-US" sz="900" b="0" i="0" u="none" strike="noStrike" cap="none" normalizeH="0" baseline="0" dirty="0">
              <a:ln>
                <a:noFill/>
              </a:ln>
              <a:solidFill>
                <a:srgbClr val="000000"/>
              </a:solidFill>
              <a:effectLst/>
              <a:latin typeface="ui-sans-serif"/>
              <a:hlinkClick r:id="rId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7"/>
              </a:rPr>
              <a:t>Grimm's household tales : with the author's notes. : Grimm, Jacob, 1785-1863 : Free Download, Borrow, and Streaming : Internet Archive</a:t>
            </a:r>
            <a:endParaRPr kumimoji="0" lang="en-US" altLang="en-US" sz="800" b="0" i="0" u="none" strike="noStrike" cap="none" normalizeH="0" baseline="0" dirty="0">
              <a:ln>
                <a:noFill/>
              </a:ln>
              <a:solidFill>
                <a:srgbClr val="000000"/>
              </a:solidFill>
              <a:effectLst/>
              <a:latin typeface="ui-sans-serif"/>
              <a:hlinkClick r:id="rId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7"/>
              </a:rPr>
              <a:t>https://archive.org/details/grimmshouseholdt01grim</a:t>
            </a:r>
            <a:endParaRPr kumimoji="0" lang="en-US" altLang="en-US" sz="800" b="0" i="0" u="none" strike="noStrike" cap="none" normalizeH="0" baseline="0" dirty="0">
              <a:ln>
                <a:noFill/>
              </a:ln>
              <a:solidFill>
                <a:srgbClr val="000000"/>
              </a:solidFill>
              <a:effectLst/>
              <a:latin typeface="ui-sans-serif"/>
              <a:hlinkClick r:id="rId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000000"/>
                </a:solidFill>
                <a:effectLst/>
                <a:latin typeface="ui-sans-serif"/>
                <a:hlinkClick r:id="rId8"/>
              </a:rPr>
              <a:t> </a:t>
            </a:r>
            <a:r>
              <a:rPr kumimoji="0" lang="en-US" altLang="en-US" sz="900" b="0" i="0" u="none" strike="noStrike" cap="none" normalizeH="0" baseline="0" dirty="0">
                <a:ln>
                  <a:noFill/>
                </a:ln>
                <a:solidFill>
                  <a:srgbClr val="000000"/>
                </a:solidFill>
                <a:effectLst/>
                <a:latin typeface="ui-sans-serif"/>
              </a:rPr>
              <a:t> </a:t>
            </a:r>
            <a:r>
              <a:rPr kumimoji="0" lang="en-US" altLang="en-US" sz="1900" b="0" i="0" u="none" strike="noStrike" cap="none" normalizeH="0" baseline="0" dirty="0">
                <a:ln>
                  <a:noFill/>
                </a:ln>
                <a:solidFill>
                  <a:srgbClr val="000000"/>
                </a:solidFill>
                <a:effectLst/>
                <a:latin typeface="ui-sans-serif"/>
                <a:hlinkClick r:id="rId8"/>
              </a:rPr>
              <a:t>      </a:t>
            </a:r>
            <a:endParaRPr kumimoji="0" lang="en-US" altLang="en-US" sz="900" b="0" i="0" u="none" strike="noStrike" cap="none" normalizeH="0" baseline="0" dirty="0">
              <a:ln>
                <a:noFill/>
              </a:ln>
              <a:solidFill>
                <a:srgbClr val="000000"/>
              </a:solidFill>
              <a:effectLst/>
              <a:latin typeface="ui-sans-serif"/>
              <a:hlinkClick r:id="rId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8"/>
              </a:rPr>
              <a:t>Best Edition for Grimms Fairy Tales? : r/folklore - Reddit</a:t>
            </a:r>
            <a:endParaRPr kumimoji="0" lang="en-US" altLang="en-US" sz="800" b="0" i="0" u="none" strike="noStrike" cap="none" normalizeH="0" baseline="0" dirty="0">
              <a:ln>
                <a:noFill/>
              </a:ln>
              <a:solidFill>
                <a:srgbClr val="000000"/>
              </a:solidFill>
              <a:effectLst/>
              <a:latin typeface="ui-sans-serif"/>
              <a:hlinkClick r:id="rId8"/>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8"/>
              </a:rPr>
              <a:t>https://www.reddit.com/r/folklore/comments/sm8qsp/best_edition_for_grimms_fairy_tales/</a:t>
            </a:r>
            <a:endParaRPr kumimoji="0" lang="en-US" altLang="en-US" sz="800" b="0" i="0" u="none" strike="noStrike" cap="none" normalizeH="0" baseline="0" dirty="0">
              <a:ln>
                <a:noFill/>
              </a:ln>
              <a:solidFill>
                <a:srgbClr val="000000"/>
              </a:solidFill>
              <a:effectLst/>
              <a:latin typeface="ui-sans-serif"/>
              <a:hlinkClick r:id="rId9"/>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9"/>
              </a:rPr>
              <a:t>The Project Gutenberg eBook of Household Stories, by Grimm.</a:t>
            </a:r>
            <a:endParaRPr kumimoji="0" lang="en-US" altLang="en-US" sz="800" b="0" i="0" u="none" strike="noStrike" cap="none" normalizeH="0" baseline="0" dirty="0">
              <a:ln>
                <a:noFill/>
              </a:ln>
              <a:solidFill>
                <a:srgbClr val="000000"/>
              </a:solidFill>
              <a:effectLst/>
              <a:latin typeface="ui-sans-serif"/>
              <a:hlinkClick r:id="rId9"/>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9"/>
              </a:rPr>
              <a:t>https://www.gutenberg.org/files/19068/19068-h/19068-h.htm</a:t>
            </a:r>
            <a:endParaRPr kumimoji="0" lang="en-US" altLang="en-US" sz="800" b="0" i="0" u="none" strike="noStrike" cap="none" normalizeH="0" baseline="0" dirty="0">
              <a:ln>
                <a:noFill/>
              </a:ln>
              <a:solidFill>
                <a:srgbClr val="000000"/>
              </a:solidFill>
              <a:effectLst/>
              <a:latin typeface="ui-sans-serif"/>
              <a:hlinkClick r:id="rId1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10"/>
              </a:rPr>
              <a:t>Brothers Grimm Lucy Crane Walter Crane: Books - </a:t>
            </a:r>
            <a:r>
              <a:rPr kumimoji="0" lang="en-US" altLang="en-US" sz="1200" b="1" i="0" u="none" strike="noStrike" cap="none" normalizeH="0" baseline="0" dirty="0" err="1">
                <a:ln>
                  <a:noFill/>
                </a:ln>
                <a:solidFill>
                  <a:srgbClr val="000000"/>
                </a:solidFill>
                <a:effectLst/>
                <a:latin typeface="ui-sans-serif"/>
                <a:hlinkClick r:id="rId10"/>
              </a:rPr>
              <a:t>AbeBooks</a:t>
            </a:r>
            <a:endParaRPr kumimoji="0" lang="en-US" altLang="en-US" sz="800" b="0" i="0" u="none" strike="noStrike" cap="none" normalizeH="0" baseline="0" dirty="0">
              <a:ln>
                <a:noFill/>
              </a:ln>
              <a:solidFill>
                <a:srgbClr val="000000"/>
              </a:solidFill>
              <a:effectLst/>
              <a:latin typeface="ui-sans-serif"/>
              <a:hlinkClick r:id="rId1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10"/>
              </a:rPr>
              <a:t>https://www.abebooks.com/book-search/author/brothers-grimm-lucy-crane-walter-crane/book/</a:t>
            </a:r>
            <a:endParaRPr kumimoji="0" lang="en-US" altLang="en-US" sz="800" b="0" i="0" u="none" strike="noStrike" cap="none" normalizeH="0" baseline="0" dirty="0">
              <a:ln>
                <a:noFill/>
              </a:ln>
              <a:solidFill>
                <a:srgbClr val="000000"/>
              </a:solidFill>
              <a:effectLst/>
              <a:latin typeface="ui-sans-serif"/>
              <a:hlinkClick r:id="rId11"/>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ui-sans-serif"/>
                <a:hlinkClick r:id="rId11"/>
              </a:rPr>
              <a:t>Fairy Tales from Project Gutenberg - The Online Books Page</a:t>
            </a:r>
            <a:endParaRPr kumimoji="0" lang="en-US" altLang="en-US" sz="800" b="0" i="0" u="none" strike="noStrike" cap="none" normalizeH="0" baseline="0" dirty="0">
              <a:ln>
                <a:noFill/>
              </a:ln>
              <a:solidFill>
                <a:srgbClr val="000000"/>
              </a:solidFill>
              <a:effectLst/>
              <a:latin typeface="ui-sans-serif"/>
              <a:hlinkClick r:id="rId11"/>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5D5D5D"/>
                </a:solidFill>
                <a:effectLst/>
                <a:latin typeface="ui-sans-serif"/>
                <a:hlinkClick r:id="rId11"/>
              </a:rPr>
              <a:t>https://onlinebooks.library.upenn.edu/webbin/gutbook/lookup?num=2591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Favicon">
            <a:hlinkClick r:id="rId2"/>
            <a:extLst>
              <a:ext uri="{FF2B5EF4-FFF2-40B4-BE49-F238E27FC236}">
                <a16:creationId xmlns:a16="http://schemas.microsoft.com/office/drawing/2014/main" id="{5B98430D-C24B-FC96-B3EC-D1ED7AB6C4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00" y="-2552700"/>
            <a:ext cx="304800" cy="30480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3" descr="Favicon">
            <a:hlinkClick r:id="rId3"/>
            <a:extLst>
              <a:ext uri="{FF2B5EF4-FFF2-40B4-BE49-F238E27FC236}">
                <a16:creationId xmlns:a16="http://schemas.microsoft.com/office/drawing/2014/main" id="{9F9500D2-C006-F330-0930-42A198990BDC}"/>
              </a:ext>
            </a:extLst>
          </p:cNvPr>
          <p:cNvSpPr>
            <a:spLocks noChangeAspect="1" noChangeArrowheads="1"/>
          </p:cNvSpPr>
          <p:nvPr/>
        </p:nvSpPr>
        <p:spPr bwMode="auto">
          <a:xfrm>
            <a:off x="50800" y="-19272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Favicon">
            <a:hlinkClick r:id="rId4"/>
            <a:extLst>
              <a:ext uri="{FF2B5EF4-FFF2-40B4-BE49-F238E27FC236}">
                <a16:creationId xmlns:a16="http://schemas.microsoft.com/office/drawing/2014/main" id="{FC998D5F-4FE0-C12F-CF7B-D84789ACFC7A}"/>
              </a:ext>
            </a:extLst>
          </p:cNvPr>
          <p:cNvSpPr>
            <a:spLocks noChangeAspect="1" noChangeArrowheads="1"/>
          </p:cNvSpPr>
          <p:nvPr/>
        </p:nvSpPr>
        <p:spPr bwMode="auto">
          <a:xfrm>
            <a:off x="50800" y="-13033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93294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297634-8A36-82A8-8178-8A28C83ECD00}"/>
              </a:ext>
            </a:extLst>
          </p:cNvPr>
          <p:cNvPicPr>
            <a:picLocks noChangeAspect="1"/>
          </p:cNvPicPr>
          <p:nvPr/>
        </p:nvPicPr>
        <p:blipFill>
          <a:blip r:embed="rId2"/>
          <a:stretch>
            <a:fillRect/>
          </a:stretch>
        </p:blipFill>
        <p:spPr>
          <a:xfrm>
            <a:off x="0" y="152400"/>
            <a:ext cx="12192000" cy="6553200"/>
          </a:xfrm>
          <a:prstGeom prst="rect">
            <a:avLst/>
          </a:prstGeom>
        </p:spPr>
      </p:pic>
    </p:spTree>
    <p:extLst>
      <p:ext uri="{BB962C8B-B14F-4D97-AF65-F5344CB8AC3E}">
        <p14:creationId xmlns:p14="http://schemas.microsoft.com/office/powerpoint/2010/main" val="3068046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8607E7-1FA7-B70C-67FD-131D3F7EA4C4}"/>
              </a:ext>
            </a:extLst>
          </p:cNvPr>
          <p:cNvPicPr>
            <a:picLocks noChangeAspect="1"/>
          </p:cNvPicPr>
          <p:nvPr/>
        </p:nvPicPr>
        <p:blipFill>
          <a:blip r:embed="rId2"/>
          <a:stretch>
            <a:fillRect/>
          </a:stretch>
        </p:blipFill>
        <p:spPr>
          <a:xfrm>
            <a:off x="148484" y="209551"/>
            <a:ext cx="6718246" cy="6201458"/>
          </a:xfrm>
          <a:prstGeom prst="rect">
            <a:avLst/>
          </a:prstGeom>
        </p:spPr>
      </p:pic>
      <p:pic>
        <p:nvPicPr>
          <p:cNvPr id="5" name="Picture 4">
            <a:extLst>
              <a:ext uri="{FF2B5EF4-FFF2-40B4-BE49-F238E27FC236}">
                <a16:creationId xmlns:a16="http://schemas.microsoft.com/office/drawing/2014/main" id="{A2E16FA3-BEDC-9CE1-696F-1F4DCD8D4257}"/>
              </a:ext>
            </a:extLst>
          </p:cNvPr>
          <p:cNvPicPr>
            <a:picLocks noChangeAspect="1"/>
          </p:cNvPicPr>
          <p:nvPr/>
        </p:nvPicPr>
        <p:blipFill>
          <a:blip r:embed="rId3"/>
          <a:stretch>
            <a:fillRect/>
          </a:stretch>
        </p:blipFill>
        <p:spPr>
          <a:xfrm>
            <a:off x="6985741" y="-16996"/>
            <a:ext cx="5057775" cy="6404977"/>
          </a:xfrm>
          <a:prstGeom prst="rect">
            <a:avLst/>
          </a:prstGeom>
        </p:spPr>
      </p:pic>
      <p:sp>
        <p:nvSpPr>
          <p:cNvPr id="7" name="TextBox 6">
            <a:extLst>
              <a:ext uri="{FF2B5EF4-FFF2-40B4-BE49-F238E27FC236}">
                <a16:creationId xmlns:a16="http://schemas.microsoft.com/office/drawing/2014/main" id="{916FE8FB-42F4-9FB2-1630-50966C59C661}"/>
              </a:ext>
            </a:extLst>
          </p:cNvPr>
          <p:cNvSpPr txBox="1"/>
          <p:nvPr/>
        </p:nvSpPr>
        <p:spPr>
          <a:xfrm>
            <a:off x="66675" y="6411009"/>
            <a:ext cx="11372850" cy="646331"/>
          </a:xfrm>
          <a:prstGeom prst="rect">
            <a:avLst/>
          </a:prstGeom>
          <a:noFill/>
        </p:spPr>
        <p:txBody>
          <a:bodyPr wrap="square">
            <a:spAutoFit/>
          </a:bodyPr>
          <a:lstStyle/>
          <a:p>
            <a:r>
              <a:rPr lang="en-US" dirty="0">
                <a:hlinkClick r:id="rId4"/>
              </a:rPr>
              <a:t>https://dn720305.ca.archive.org/0/items/grimmshouseholdt01grim/grimmshouseholdt01grim.pdf</a:t>
            </a:r>
            <a:endParaRPr lang="en-US" dirty="0"/>
          </a:p>
          <a:p>
            <a:endParaRPr lang="en-US" dirty="0"/>
          </a:p>
        </p:txBody>
      </p:sp>
    </p:spTree>
    <p:extLst>
      <p:ext uri="{BB962C8B-B14F-4D97-AF65-F5344CB8AC3E}">
        <p14:creationId xmlns:p14="http://schemas.microsoft.com/office/powerpoint/2010/main" val="910939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8B860B-07FF-4D68-479E-0E446F0FF86A}"/>
              </a:ext>
            </a:extLst>
          </p:cNvPr>
          <p:cNvPicPr>
            <a:picLocks noChangeAspect="1"/>
          </p:cNvPicPr>
          <p:nvPr/>
        </p:nvPicPr>
        <p:blipFill>
          <a:blip r:embed="rId2"/>
          <a:stretch>
            <a:fillRect/>
          </a:stretch>
        </p:blipFill>
        <p:spPr>
          <a:xfrm>
            <a:off x="826018" y="59592"/>
            <a:ext cx="5970764" cy="6702430"/>
          </a:xfrm>
          <a:prstGeom prst="rect">
            <a:avLst/>
          </a:prstGeom>
        </p:spPr>
      </p:pic>
      <p:pic>
        <p:nvPicPr>
          <p:cNvPr id="5" name="Picture 4">
            <a:extLst>
              <a:ext uri="{FF2B5EF4-FFF2-40B4-BE49-F238E27FC236}">
                <a16:creationId xmlns:a16="http://schemas.microsoft.com/office/drawing/2014/main" id="{466BCD11-550D-5BF0-A22B-DA970A3A2155}"/>
              </a:ext>
            </a:extLst>
          </p:cNvPr>
          <p:cNvPicPr>
            <a:picLocks noChangeAspect="1"/>
          </p:cNvPicPr>
          <p:nvPr/>
        </p:nvPicPr>
        <p:blipFill>
          <a:blip r:embed="rId3"/>
          <a:stretch>
            <a:fillRect/>
          </a:stretch>
        </p:blipFill>
        <p:spPr>
          <a:xfrm>
            <a:off x="7200901" y="59593"/>
            <a:ext cx="4871624" cy="6702429"/>
          </a:xfrm>
          <a:prstGeom prst="rect">
            <a:avLst/>
          </a:prstGeom>
        </p:spPr>
      </p:pic>
    </p:spTree>
    <p:extLst>
      <p:ext uri="{BB962C8B-B14F-4D97-AF65-F5344CB8AC3E}">
        <p14:creationId xmlns:p14="http://schemas.microsoft.com/office/powerpoint/2010/main" val="417762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6431F-F1F8-5495-AE01-23A84BC3FFE3}"/>
              </a:ext>
            </a:extLst>
          </p:cNvPr>
          <p:cNvPicPr>
            <a:picLocks noChangeAspect="1"/>
          </p:cNvPicPr>
          <p:nvPr/>
        </p:nvPicPr>
        <p:blipFill>
          <a:blip r:embed="rId2"/>
          <a:stretch>
            <a:fillRect/>
          </a:stretch>
        </p:blipFill>
        <p:spPr>
          <a:xfrm>
            <a:off x="1268819" y="50761"/>
            <a:ext cx="4600354" cy="6756478"/>
          </a:xfrm>
          <a:prstGeom prst="rect">
            <a:avLst/>
          </a:prstGeom>
        </p:spPr>
      </p:pic>
      <p:pic>
        <p:nvPicPr>
          <p:cNvPr id="5" name="Picture 4">
            <a:extLst>
              <a:ext uri="{FF2B5EF4-FFF2-40B4-BE49-F238E27FC236}">
                <a16:creationId xmlns:a16="http://schemas.microsoft.com/office/drawing/2014/main" id="{447287C1-DDD8-FFF5-13E0-B3F70ECF2F86}"/>
              </a:ext>
            </a:extLst>
          </p:cNvPr>
          <p:cNvPicPr>
            <a:picLocks noChangeAspect="1"/>
          </p:cNvPicPr>
          <p:nvPr/>
        </p:nvPicPr>
        <p:blipFill>
          <a:blip r:embed="rId3"/>
          <a:stretch>
            <a:fillRect/>
          </a:stretch>
        </p:blipFill>
        <p:spPr>
          <a:xfrm>
            <a:off x="6096000" y="50761"/>
            <a:ext cx="4111256" cy="6713466"/>
          </a:xfrm>
          <a:prstGeom prst="rect">
            <a:avLst/>
          </a:prstGeom>
        </p:spPr>
      </p:pic>
    </p:spTree>
    <p:extLst>
      <p:ext uri="{BB962C8B-B14F-4D97-AF65-F5344CB8AC3E}">
        <p14:creationId xmlns:p14="http://schemas.microsoft.com/office/powerpoint/2010/main" val="2738087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279F1F-D140-3E7E-CB8C-A20DE2F11F76}"/>
              </a:ext>
            </a:extLst>
          </p:cNvPr>
          <p:cNvPicPr>
            <a:picLocks noChangeAspect="1"/>
          </p:cNvPicPr>
          <p:nvPr/>
        </p:nvPicPr>
        <p:blipFill>
          <a:blip r:embed="rId2"/>
          <a:stretch>
            <a:fillRect/>
          </a:stretch>
        </p:blipFill>
        <p:spPr>
          <a:xfrm>
            <a:off x="46574" y="68330"/>
            <a:ext cx="8019036" cy="6087921"/>
          </a:xfrm>
          <a:prstGeom prst="rect">
            <a:avLst/>
          </a:prstGeom>
        </p:spPr>
      </p:pic>
    </p:spTree>
    <p:extLst>
      <p:ext uri="{BB962C8B-B14F-4D97-AF65-F5344CB8AC3E}">
        <p14:creationId xmlns:p14="http://schemas.microsoft.com/office/powerpoint/2010/main" val="2412801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1A6B02-C8E3-D605-EF66-CAD041A864AC}"/>
              </a:ext>
            </a:extLst>
          </p:cNvPr>
          <p:cNvSpPr txBox="1"/>
          <p:nvPr/>
        </p:nvSpPr>
        <p:spPr>
          <a:xfrm>
            <a:off x="0" y="187818"/>
            <a:ext cx="6007395" cy="5355312"/>
          </a:xfrm>
          <a:prstGeom prst="rect">
            <a:avLst/>
          </a:prstGeom>
          <a:noFill/>
        </p:spPr>
        <p:txBody>
          <a:bodyPr wrap="square">
            <a:spAutoFit/>
          </a:bodyPr>
          <a:lstStyle/>
          <a:p>
            <a:r>
              <a:rPr lang="en-US" dirty="0"/>
              <a:t>From Andrew Lang's Introduction in Hunt's Volume 1: "Everywhere we find the legends of the ill-treated, but ultimately successful younger daughter ; of the triumphant youngest son ; of the false bride substituted for the true ; of the giant's wife or daughter who elopes with the adventurer, and of the giant's pursuit ; everywhere there is the story about the wife who is forced by some mysterious cause, to leave her husband, or of the husband driven from his wife, a story which sometimes ends in the reunion of the pair." Which tales from Volume 1 would be paradigmatic for these? I am also interested in tales to compare and contrast on common philosophical themes (theory of knowledge, truth and trust, and individual and collective ethics and morality) with Akan </a:t>
            </a:r>
            <a:r>
              <a:rPr lang="en-US" dirty="0" err="1"/>
              <a:t>Ananse</a:t>
            </a:r>
            <a:r>
              <a:rPr lang="en-US" dirty="0"/>
              <a:t> Tales. Most famous get extra bonus points two. Special requests for the Juniper Bush and The Wolf and the Kids, bonus for animal fables, and for being a famous story up to and including Disney. Try to give me your best choice of the best dozen, which to lead off with, and which to end with.</a:t>
            </a:r>
          </a:p>
        </p:txBody>
      </p:sp>
      <p:sp>
        <p:nvSpPr>
          <p:cNvPr id="7" name="TextBox 6">
            <a:extLst>
              <a:ext uri="{FF2B5EF4-FFF2-40B4-BE49-F238E27FC236}">
                <a16:creationId xmlns:a16="http://schemas.microsoft.com/office/drawing/2014/main" id="{EB34C265-BD41-D5D9-C59B-352D8BB5C06F}"/>
              </a:ext>
            </a:extLst>
          </p:cNvPr>
          <p:cNvSpPr txBox="1"/>
          <p:nvPr/>
        </p:nvSpPr>
        <p:spPr>
          <a:xfrm>
            <a:off x="6007395" y="187818"/>
            <a:ext cx="6124352" cy="5355312"/>
          </a:xfrm>
          <a:prstGeom prst="rect">
            <a:avLst/>
          </a:prstGeom>
          <a:noFill/>
        </p:spPr>
        <p:txBody>
          <a:bodyPr wrap="square">
            <a:spAutoFit/>
          </a:bodyPr>
          <a:lstStyle/>
          <a:p>
            <a:pPr>
              <a:buNone/>
            </a:pPr>
            <a:r>
              <a:rPr lang="en-US" dirty="0"/>
              <a:t>Excellent — you’re diving deep, and I love this framing.</a:t>
            </a:r>
            <a:br>
              <a:rPr lang="en-US" dirty="0"/>
            </a:br>
            <a:r>
              <a:rPr lang="en-US" dirty="0"/>
              <a:t>You quoted beautifully from </a:t>
            </a:r>
            <a:r>
              <a:rPr lang="en-US" b="1" dirty="0"/>
              <a:t>Andrew Lang’s Introduction</a:t>
            </a:r>
            <a:r>
              <a:rPr lang="en-US" dirty="0"/>
              <a:t> to </a:t>
            </a:r>
            <a:r>
              <a:rPr lang="en-US" i="1" dirty="0"/>
              <a:t>Hunt’s translation</a:t>
            </a:r>
            <a:r>
              <a:rPr lang="en-US" dirty="0"/>
              <a:t> of the Grimm tales (Volume 1). Let’s proceed carefully and thoughtfully.</a:t>
            </a:r>
          </a:p>
          <a:p>
            <a:pPr>
              <a:buNone/>
            </a:pPr>
            <a:r>
              <a:rPr lang="en-US" dirty="0"/>
              <a:t>You asked:</a:t>
            </a:r>
          </a:p>
          <a:p>
            <a:pPr>
              <a:buFont typeface="Arial" panose="020B0604020202020204" pitchFamily="34" charset="0"/>
              <a:buChar char="•"/>
            </a:pPr>
            <a:r>
              <a:rPr lang="en-US" dirty="0"/>
              <a:t>Which tales from Grimm's </a:t>
            </a:r>
            <a:r>
              <a:rPr lang="en-US" i="1" dirty="0"/>
              <a:t>Volume 1</a:t>
            </a:r>
            <a:r>
              <a:rPr lang="en-US" dirty="0"/>
              <a:t> best match these mythic archetypes Lang mentions:</a:t>
            </a:r>
            <a:br>
              <a:rPr lang="en-US" dirty="0"/>
            </a:br>
            <a:r>
              <a:rPr lang="en-US" i="1" dirty="0"/>
              <a:t>ill-treated but successful younger daughter</a:t>
            </a:r>
            <a:r>
              <a:rPr lang="en-US" dirty="0"/>
              <a:t>, </a:t>
            </a:r>
            <a:r>
              <a:rPr lang="en-US" i="1" dirty="0"/>
              <a:t>triumphant youngest son</a:t>
            </a:r>
            <a:r>
              <a:rPr lang="en-US" dirty="0"/>
              <a:t>, </a:t>
            </a:r>
            <a:r>
              <a:rPr lang="en-US" i="1" dirty="0"/>
              <a:t>false bride substitution</a:t>
            </a:r>
            <a:r>
              <a:rPr lang="en-US" dirty="0"/>
              <a:t>, </a:t>
            </a:r>
            <a:r>
              <a:rPr lang="en-US" i="1" dirty="0"/>
              <a:t>giant’s wife/daughter aiding hero</a:t>
            </a:r>
            <a:r>
              <a:rPr lang="en-US" dirty="0"/>
              <a:t>, </a:t>
            </a:r>
            <a:r>
              <a:rPr lang="en-US" i="1" dirty="0"/>
              <a:t>forced separation and reunion of spouses</a:t>
            </a:r>
            <a:r>
              <a:rPr lang="en-US" dirty="0"/>
              <a:t>.</a:t>
            </a:r>
          </a:p>
          <a:p>
            <a:pPr>
              <a:buFont typeface="Arial" panose="020B0604020202020204" pitchFamily="34" charset="0"/>
              <a:buChar char="•"/>
            </a:pPr>
            <a:r>
              <a:rPr lang="en-US" dirty="0"/>
              <a:t>Also: you want tales </a:t>
            </a:r>
            <a:r>
              <a:rPr lang="en-US" b="1" dirty="0"/>
              <a:t>philosophically rich</a:t>
            </a:r>
            <a:r>
              <a:rPr lang="en-US" dirty="0"/>
              <a:t> for cross-comparison with </a:t>
            </a:r>
            <a:r>
              <a:rPr lang="en-US" b="1" dirty="0"/>
              <a:t>Akan </a:t>
            </a:r>
            <a:r>
              <a:rPr lang="en-US" b="1" dirty="0" err="1"/>
              <a:t>Ananse</a:t>
            </a:r>
            <a:r>
              <a:rPr lang="en-US" b="1" dirty="0"/>
              <a:t> tales</a:t>
            </a:r>
            <a:r>
              <a:rPr lang="en-US" dirty="0"/>
              <a:t> — on </a:t>
            </a:r>
            <a:r>
              <a:rPr lang="en-US" b="1" dirty="0"/>
              <a:t>knowledge, truth/trust, ethics/morality</a:t>
            </a:r>
            <a:r>
              <a:rPr lang="en-US" dirty="0"/>
              <a:t>.</a:t>
            </a:r>
          </a:p>
          <a:p>
            <a:pPr>
              <a:buFont typeface="Arial" panose="020B0604020202020204" pitchFamily="34" charset="0"/>
              <a:buChar char="•"/>
            </a:pPr>
            <a:r>
              <a:rPr lang="en-US" dirty="0"/>
              <a:t>Special attention: </a:t>
            </a:r>
            <a:r>
              <a:rPr lang="en-US" i="1" dirty="0"/>
              <a:t>The Juniper Tree</a:t>
            </a:r>
            <a:r>
              <a:rPr lang="en-US" dirty="0"/>
              <a:t> ("The Juniper Bush") and </a:t>
            </a:r>
            <a:r>
              <a:rPr lang="en-US" i="1" dirty="0"/>
              <a:t>The Wolf and the Seven Young Kids</a:t>
            </a:r>
            <a:r>
              <a:rPr lang="en-US" dirty="0"/>
              <a:t>.</a:t>
            </a:r>
          </a:p>
          <a:p>
            <a:pPr>
              <a:buFont typeface="Arial" panose="020B0604020202020204" pitchFamily="34" charset="0"/>
              <a:buChar char="•"/>
            </a:pPr>
            <a:r>
              <a:rPr lang="en-US" dirty="0"/>
              <a:t>Plus </a:t>
            </a:r>
            <a:r>
              <a:rPr lang="en-US" b="1" dirty="0"/>
              <a:t>bonus points</a:t>
            </a:r>
            <a:r>
              <a:rPr lang="en-US" dirty="0"/>
              <a:t>: Animal fables, very famous stories (even ones Disney adapted).</a:t>
            </a:r>
          </a:p>
          <a:p>
            <a:r>
              <a:rPr lang="en-US" dirty="0"/>
              <a:t>You asked for </a:t>
            </a:r>
            <a:r>
              <a:rPr lang="en-US" b="1" dirty="0"/>
              <a:t>the best dozen</a:t>
            </a:r>
            <a:r>
              <a:rPr lang="en-US" dirty="0"/>
              <a:t>, ordered with one to </a:t>
            </a:r>
            <a:r>
              <a:rPr lang="en-US" b="1" dirty="0"/>
              <a:t>lead off</a:t>
            </a:r>
            <a:r>
              <a:rPr lang="en-US" dirty="0"/>
              <a:t> and one to </a:t>
            </a:r>
            <a:r>
              <a:rPr lang="en-US" b="1" dirty="0"/>
              <a:t>end</a:t>
            </a:r>
            <a:endParaRPr lang="en-US" dirty="0"/>
          </a:p>
        </p:txBody>
      </p:sp>
    </p:spTree>
    <p:extLst>
      <p:ext uri="{BB962C8B-B14F-4D97-AF65-F5344CB8AC3E}">
        <p14:creationId xmlns:p14="http://schemas.microsoft.com/office/powerpoint/2010/main" val="260271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2DF1906-848F-67AA-BE3A-0F589A62D1EC}"/>
              </a:ext>
            </a:extLst>
          </p:cNvPr>
          <p:cNvGraphicFramePr>
            <a:graphicFrameLocks noGrp="1"/>
          </p:cNvGraphicFramePr>
          <p:nvPr>
            <p:extLst>
              <p:ext uri="{D42A27DB-BD31-4B8C-83A1-F6EECF244321}">
                <p14:modId xmlns:p14="http://schemas.microsoft.com/office/powerpoint/2010/main" val="1657242725"/>
              </p:ext>
            </p:extLst>
          </p:nvPr>
        </p:nvGraphicFramePr>
        <p:xfrm>
          <a:off x="988829" y="625465"/>
          <a:ext cx="9973341" cy="6040014"/>
        </p:xfrm>
        <a:graphic>
          <a:graphicData uri="http://schemas.openxmlformats.org/drawingml/2006/table">
            <a:tbl>
              <a:tblPr/>
              <a:tblGrid>
                <a:gridCol w="3324447">
                  <a:extLst>
                    <a:ext uri="{9D8B030D-6E8A-4147-A177-3AD203B41FA5}">
                      <a16:colId xmlns:a16="http://schemas.microsoft.com/office/drawing/2014/main" val="3033536066"/>
                    </a:ext>
                  </a:extLst>
                </a:gridCol>
                <a:gridCol w="3324447">
                  <a:extLst>
                    <a:ext uri="{9D8B030D-6E8A-4147-A177-3AD203B41FA5}">
                      <a16:colId xmlns:a16="http://schemas.microsoft.com/office/drawing/2014/main" val="707498891"/>
                    </a:ext>
                  </a:extLst>
                </a:gridCol>
                <a:gridCol w="3324447">
                  <a:extLst>
                    <a:ext uri="{9D8B030D-6E8A-4147-A177-3AD203B41FA5}">
                      <a16:colId xmlns:a16="http://schemas.microsoft.com/office/drawing/2014/main" val="3284655121"/>
                    </a:ext>
                  </a:extLst>
                </a:gridCol>
              </a:tblGrid>
              <a:tr h="134510">
                <a:tc>
                  <a:txBody>
                    <a:bodyPr/>
                    <a:lstStyle/>
                    <a:p>
                      <a:r>
                        <a:rPr lang="en-US" sz="500"/>
                        <a:t>No.</a:t>
                      </a:r>
                    </a:p>
                  </a:txBody>
                  <a:tcPr marL="25748" marR="25748" marT="12874" marB="12874"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sz="500"/>
                        <a:t>Tale</a:t>
                      </a:r>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sz="500"/>
                        <a:t>Why Selected</a:t>
                      </a:r>
                    </a:p>
                  </a:txBody>
                  <a:tcPr marL="25748" marR="25748" marT="12874" marB="12874"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3418035"/>
                  </a:ext>
                </a:extLst>
              </a:tr>
              <a:tr h="638929">
                <a:tc>
                  <a:txBody>
                    <a:bodyPr/>
                    <a:lstStyle/>
                    <a:p>
                      <a:r>
                        <a:rPr lang="en-US" sz="1050"/>
                        <a:t>1️⃣ (</a:t>
                      </a:r>
                      <a:r>
                        <a:rPr lang="en-US" sz="1050" b="1"/>
                        <a:t>Lead Off</a:t>
                      </a:r>
                      <a:r>
                        <a:rPr lang="en-US" sz="1050"/>
                        <a:t>)</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a:t>The Frog King, or Iron Heinrich</a:t>
                      </a:r>
                      <a:endParaRPr lang="en-US" sz="105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Famous opener, philosophical on promises/trust. (Keeping one’s word to the lowly.) Echoes </a:t>
                      </a:r>
                      <a:r>
                        <a:rPr lang="en-US" sz="1050" dirty="0" err="1"/>
                        <a:t>Ananse</a:t>
                      </a:r>
                      <a:r>
                        <a:rPr lang="en-US" sz="1050" dirty="0"/>
                        <a:t> on bargains and hidden truth. Disney adapted ("The Princess and the Frog").</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9443076"/>
                  </a:ext>
                </a:extLst>
              </a:tr>
              <a:tr h="538045">
                <a:tc>
                  <a:txBody>
                    <a:bodyPr/>
                    <a:lstStyle/>
                    <a:p>
                      <a:r>
                        <a:rPr lang="en-US" sz="1050" dirty="0"/>
                        <a:t>2️⃣</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a:t>The Wolf and the Seven Young Kids</a:t>
                      </a:r>
                      <a:endParaRPr lang="en-US" sz="105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Animal fable. Trust, deception (false voice, chalk-eating wolf). Reward for cleverness. Direct moral contrast to Ananse trickster tales.</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4295392"/>
                  </a:ext>
                </a:extLst>
              </a:tr>
              <a:tr h="437162">
                <a:tc>
                  <a:txBody>
                    <a:bodyPr/>
                    <a:lstStyle/>
                    <a:p>
                      <a:r>
                        <a:rPr lang="en-US" sz="1050"/>
                        <a:t>3️⃣</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a:t>The Juniper Tree</a:t>
                      </a:r>
                      <a:endParaRPr lang="en-US" sz="105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Dark, powerful. Family betrayal, death, rebirth. Individual ethics vs family loyalty. Famous in folklore studies.</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79070"/>
                  </a:ext>
                </a:extLst>
              </a:tr>
              <a:tr h="336279">
                <a:tc>
                  <a:txBody>
                    <a:bodyPr/>
                    <a:lstStyle/>
                    <a:p>
                      <a:r>
                        <a:rPr lang="en-US" sz="1050"/>
                        <a:t>4️⃣</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a:t>The Twelve Brothers</a:t>
                      </a:r>
                      <a:endParaRPr lang="en-US" sz="105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Sibling loyalty, injustice, redemption. Ethics of promises, trials of faith.</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8454289"/>
                  </a:ext>
                </a:extLst>
              </a:tr>
              <a:tr h="437162">
                <a:tc>
                  <a:txBody>
                    <a:bodyPr/>
                    <a:lstStyle/>
                    <a:p>
                      <a:r>
                        <a:rPr lang="en-US" sz="1050"/>
                        <a:t>5️⃣</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a:t>The Three Little Men in the Wood</a:t>
                      </a:r>
                      <a:endParaRPr lang="en-US" sz="105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Ill-treated younger daughter archetype; kindness rewarded, cruelty punished. Philosophical on virtue and merit.</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3359744"/>
                  </a:ext>
                </a:extLst>
              </a:tr>
              <a:tr h="336279">
                <a:tc>
                  <a:txBody>
                    <a:bodyPr/>
                    <a:lstStyle/>
                    <a:p>
                      <a:r>
                        <a:rPr lang="en-US" sz="1050"/>
                        <a:t>6️⃣</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The Fisherman and His Wife</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Ethics of desire and greed. Individual vs societal limits. Moral story about excess ambition.</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0751382"/>
                  </a:ext>
                </a:extLst>
              </a:tr>
              <a:tr h="336279">
                <a:tc>
                  <a:txBody>
                    <a:bodyPr/>
                    <a:lstStyle/>
                    <a:p>
                      <a:r>
                        <a:rPr lang="en-US" sz="1050"/>
                        <a:t>7️⃣</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The Golden Goose</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dirty="0"/>
                        <a:t>- Youngest son succeeds through kindness. Knowledge vs folly. Humor. Disney-like flavor.</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0313802"/>
                  </a:ext>
                </a:extLst>
              </a:tr>
              <a:tr h="638929">
                <a:tc>
                  <a:txBody>
                    <a:bodyPr/>
                    <a:lstStyle/>
                    <a:p>
                      <a:r>
                        <a:rPr lang="en-US" sz="1050"/>
                        <a:t>8️⃣</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Briar Rose (Sleeping Beauty)</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Fatal knowledge (the spindle curse). Fate, foreknowledge, inevitability. Ultimate reunion after separation (spouses or kingdoms). Very famous, adapted by Disney.</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3185773"/>
                  </a:ext>
                </a:extLst>
              </a:tr>
              <a:tr h="437162">
                <a:tc>
                  <a:txBody>
                    <a:bodyPr/>
                    <a:lstStyle/>
                    <a:p>
                      <a:r>
                        <a:rPr lang="en-US" sz="1050"/>
                        <a:t>9️⃣</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The Robber Bridegroom</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Dark test of truth and trust. Knowledge hidden and revealed. Major contrast with Ananse's frequent concealments.</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3861756"/>
                  </a:ext>
                </a:extLst>
              </a:tr>
              <a:tr h="437162">
                <a:tc>
                  <a:txBody>
                    <a:bodyPr/>
                    <a:lstStyle/>
                    <a:p>
                      <a:r>
                        <a:rPr lang="en-US" sz="1050"/>
                        <a:t>🔟</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The Goose Girl</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False bride substitution motif par excellence. Ethics, identity, justice. Philosophically deep on truth and loyalty.</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411585"/>
                  </a:ext>
                </a:extLst>
              </a:tr>
              <a:tr h="437162">
                <a:tc>
                  <a:txBody>
                    <a:bodyPr/>
                    <a:lstStyle/>
                    <a:p>
                      <a:r>
                        <a:rPr lang="en-US" sz="1050"/>
                        <a:t>1️⃣1️⃣</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b="1" dirty="0"/>
                        <a:t>The Bremen Town Musicians</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50"/>
                        <a:t>- Animal fable. Cooperation, mutual aid, building a new society — fits collective ethics theme. Famous, beloved.</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2557150"/>
                  </a:ext>
                </a:extLst>
              </a:tr>
              <a:tr h="538045">
                <a:tc>
                  <a:txBody>
                    <a:bodyPr/>
                    <a:lstStyle/>
                    <a:p>
                      <a:r>
                        <a:rPr lang="en-US" sz="1050"/>
                        <a:t>1️⃣2️⃣ (</a:t>
                      </a:r>
                      <a:r>
                        <a:rPr lang="en-US" sz="1050" b="1"/>
                        <a:t>End</a:t>
                      </a:r>
                      <a:r>
                        <a:rPr lang="en-US" sz="1050"/>
                        <a:t>)</a:t>
                      </a:r>
                    </a:p>
                  </a:txBody>
                  <a:tcPr marL="25748" marR="25748" marT="12874" marB="12874"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1050" b="1" dirty="0"/>
                        <a:t>Snow White</a:t>
                      </a:r>
                      <a:endParaRPr lang="en-US" sz="1050" dirty="0"/>
                    </a:p>
                  </a:txBody>
                  <a:tcPr marL="25748" marR="25748" marT="12874" marB="128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sz="1050" dirty="0"/>
                        <a:t>- Combines false motherhood, betrayal, truth, rebirth. Very famous (Disney classic). Ends the cycle powerfully with triumph of the ill-treated true child.</a:t>
                      </a:r>
                    </a:p>
                  </a:txBody>
                  <a:tcPr marL="25748" marR="25748" marT="12874" marB="1287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591085187"/>
                  </a:ext>
                </a:extLst>
              </a:tr>
            </a:tbl>
          </a:graphicData>
        </a:graphic>
      </p:graphicFrame>
      <p:sp>
        <p:nvSpPr>
          <p:cNvPr id="3" name="Rectangle 1">
            <a:extLst>
              <a:ext uri="{FF2B5EF4-FFF2-40B4-BE49-F238E27FC236}">
                <a16:creationId xmlns:a16="http://schemas.microsoft.com/office/drawing/2014/main" id="{9F090ED3-9281-31A5-51D6-6455202735CE}"/>
              </a:ext>
            </a:extLst>
          </p:cNvPr>
          <p:cNvSpPr>
            <a:spLocks noChangeArrowheads="1"/>
          </p:cNvSpPr>
          <p:nvPr/>
        </p:nvSpPr>
        <p:spPr bwMode="auto">
          <a:xfrm>
            <a:off x="839971" y="197838"/>
            <a:ext cx="918331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 My carefully chosen "Best Dozen" from Grimm's Volume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6496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158478-FAC4-38DA-45B0-49563BE98C4B}"/>
              </a:ext>
            </a:extLst>
          </p:cNvPr>
          <p:cNvSpPr txBox="1"/>
          <p:nvPr/>
        </p:nvSpPr>
        <p:spPr>
          <a:xfrm>
            <a:off x="0" y="202870"/>
            <a:ext cx="8335926" cy="923330"/>
          </a:xfrm>
          <a:prstGeom prst="rect">
            <a:avLst/>
          </a:prstGeom>
          <a:noFill/>
        </p:spPr>
        <p:txBody>
          <a:bodyPr wrap="square">
            <a:spAutoFit/>
          </a:bodyPr>
          <a:lstStyle/>
          <a:p>
            <a:r>
              <a:rPr lang="en-US" dirty="0">
                <a:hlinkClick r:id="rId2"/>
              </a:rPr>
              <a:t>http://www.zeno.org/Literatur/M/Grimm,+Jacob+und+Wilhelm/M%C3%A4rchen/Kinder-+und+Hausm%C3%A4rchen+(1812-15)#google_vignette</a:t>
            </a:r>
            <a:endParaRPr lang="en-US" dirty="0"/>
          </a:p>
          <a:p>
            <a:endParaRPr lang="en-US" dirty="0"/>
          </a:p>
        </p:txBody>
      </p:sp>
      <p:sp>
        <p:nvSpPr>
          <p:cNvPr id="5" name="TextBox 4">
            <a:extLst>
              <a:ext uri="{FF2B5EF4-FFF2-40B4-BE49-F238E27FC236}">
                <a16:creationId xmlns:a16="http://schemas.microsoft.com/office/drawing/2014/main" id="{B03AB1B9-911B-C60B-BC28-4E3BDB7650A4}"/>
              </a:ext>
            </a:extLst>
          </p:cNvPr>
          <p:cNvSpPr txBox="1"/>
          <p:nvPr/>
        </p:nvSpPr>
        <p:spPr>
          <a:xfrm>
            <a:off x="627321" y="970209"/>
            <a:ext cx="6124352" cy="5678478"/>
          </a:xfrm>
          <a:prstGeom prst="rect">
            <a:avLst/>
          </a:prstGeom>
          <a:noFill/>
        </p:spPr>
        <p:txBody>
          <a:bodyPr wrap="square">
            <a:spAutoFit/>
          </a:bodyPr>
          <a:lstStyle/>
          <a:p>
            <a:pPr algn="l">
              <a:buNone/>
            </a:pPr>
            <a:r>
              <a:rPr lang="de-DE" sz="1100" b="1" i="0" dirty="0">
                <a:solidFill>
                  <a:srgbClr val="000000"/>
                </a:solidFill>
                <a:effectLst/>
                <a:latin typeface="arial" panose="020B0604020202020204" pitchFamily="34" charset="0"/>
              </a:rPr>
              <a:t>Jacob und Wilhelm Grimm</a:t>
            </a:r>
          </a:p>
          <a:p>
            <a:pPr algn="l">
              <a:buNone/>
            </a:pPr>
            <a:r>
              <a:rPr lang="de-DE" sz="1100" b="1" i="0" dirty="0">
                <a:solidFill>
                  <a:srgbClr val="000000"/>
                </a:solidFill>
                <a:effectLst/>
                <a:latin typeface="arial" panose="020B0604020202020204" pitchFamily="34" charset="0"/>
              </a:rPr>
              <a:t>Kinder- und Hausmärchen</a:t>
            </a:r>
          </a:p>
          <a:p>
            <a:pPr algn="l">
              <a:buNone/>
            </a:pPr>
            <a:r>
              <a:rPr lang="de-DE" sz="1100" b="1" i="0" dirty="0">
                <a:solidFill>
                  <a:srgbClr val="000000"/>
                </a:solidFill>
                <a:effectLst/>
                <a:latin typeface="arial" panose="020B0604020202020204" pitchFamily="34" charset="0"/>
              </a:rPr>
              <a:t>(1812/15)</a:t>
            </a:r>
          </a:p>
          <a:p>
            <a:pPr algn="l">
              <a:buFont typeface="Arial" panose="020B0604020202020204" pitchFamily="34" charset="0"/>
              <a:buChar char="•"/>
            </a:pPr>
            <a:r>
              <a:rPr lang="de-DE" sz="1100" b="1" i="0" u="none" strike="noStrike" dirty="0">
                <a:solidFill>
                  <a:srgbClr val="1446C6"/>
                </a:solidFill>
                <a:effectLst/>
                <a:latin typeface="arial" panose="020B0604020202020204" pitchFamily="34" charset="0"/>
                <a:hlinkClick r:id="rId3"/>
              </a:rPr>
              <a:t>Erster Band</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4"/>
              </a:rPr>
              <a:t>Vorrede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5"/>
              </a:rPr>
              <a:t>Zeugnisse für Kindermärchen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6"/>
              </a:rPr>
              <a:t>1. Der Froschkönig oder der eiserne Heinrich</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7"/>
              </a:rPr>
              <a:t>2. Katz und Maus in Gesellschaft</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8"/>
              </a:rPr>
              <a:t>3. Marienkind</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9"/>
              </a:rPr>
              <a:t>4. Gut Kegel- und Kartenspiel</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0"/>
              </a:rPr>
              <a:t>5. Der Wolf und die sieben jungen Geislein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1"/>
              </a:rPr>
              <a:t>6. Von der Nachtigall und der Blindschleiche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2"/>
              </a:rPr>
              <a:t>7. Von dem gestohlenen Heller</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3"/>
              </a:rPr>
              <a:t>8. Die Hand mit dem Messer</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4"/>
              </a:rPr>
              <a:t>9. Die zwölf Brüder</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5"/>
              </a:rPr>
              <a:t>10. Das Lumpengesindel</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6"/>
              </a:rPr>
              <a:t>11. Brüderchen und Schwesterchen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7"/>
              </a:rPr>
              <a:t>12. Rapunzel</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8"/>
              </a:rPr>
              <a:t>13. Die drei Männlein im Walde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19"/>
              </a:rPr>
              <a:t>14. Von dem bösen Flachspinnen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0"/>
              </a:rPr>
              <a:t>15. Hänsel und Gretel</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1"/>
              </a:rPr>
              <a:t>16. Herr Fix und Fertig</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2"/>
              </a:rPr>
              <a:t>17. Die weiße Schlange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3"/>
              </a:rPr>
              <a:t>18. Strohhalm, Kohle und Bohne auf der Reise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4"/>
              </a:rPr>
              <a:t>19. Von den Fischer und siine Fru</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5"/>
              </a:rPr>
              <a:t>20. Von einem tapfern Schneider</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6"/>
              </a:rPr>
              <a:t>21. Aschenputtel</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7"/>
              </a:rPr>
              <a:t>22. Wie Kinder Schlachtens mit einander gespielt haben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8"/>
              </a:rPr>
              <a:t>23. Von dem Mäuschen, Vögelchen und der Bratwurst</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29"/>
              </a:rPr>
              <a:t>24. Frau Holle</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30"/>
              </a:rPr>
              <a:t>25. Die drei Raben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31"/>
              </a:rPr>
              <a:t>26. Rothkäppchen</a:t>
            </a:r>
            <a:endParaRPr lang="de-DE" sz="1100" b="0" i="0" dirty="0">
              <a:solidFill>
                <a:srgbClr val="000000"/>
              </a:solidFill>
              <a:effectLst/>
              <a:latin typeface="arial" panose="020B0604020202020204" pitchFamily="34" charset="0"/>
            </a:endParaRPr>
          </a:p>
          <a:p>
            <a:pPr marL="742950" lvl="1" indent="-285750" algn="l">
              <a:buFont typeface="Arial" panose="020B0604020202020204" pitchFamily="34" charset="0"/>
              <a:buChar char="•"/>
            </a:pPr>
            <a:r>
              <a:rPr lang="de-DE" sz="1100" b="0" i="0" u="none" strike="noStrike" dirty="0">
                <a:solidFill>
                  <a:srgbClr val="1446C6"/>
                </a:solidFill>
                <a:effectLst/>
                <a:latin typeface="arial" panose="020B0604020202020204" pitchFamily="34" charset="0"/>
                <a:hlinkClick r:id="rId32"/>
              </a:rPr>
              <a:t>27. Der Tod und der Gänshirt</a:t>
            </a:r>
            <a:endParaRPr lang="de-DE"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116166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13104</TotalTime>
  <Words>2300</Words>
  <Application>Microsoft Office PowerPoint</Application>
  <PresentationFormat>Widescreen</PresentationFormat>
  <Paragraphs>125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arial</vt:lpstr>
      <vt:lpstr>Segoe UI</vt:lpstr>
      <vt:lpstr>ui-sans-serif</vt:lpstr>
      <vt:lpstr>Office Theme</vt:lpstr>
      <vt:lpstr>Brothers Grimm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 Worstell</dc:creator>
  <cp:lastModifiedBy>Bill Worstell</cp:lastModifiedBy>
  <cp:revision>6</cp:revision>
  <cp:lastPrinted>2025-04-27T14:59:36Z</cp:lastPrinted>
  <dcterms:created xsi:type="dcterms:W3CDTF">2025-04-27T13:19:00Z</dcterms:created>
  <dcterms:modified xsi:type="dcterms:W3CDTF">2025-05-25T14:06:19Z</dcterms:modified>
</cp:coreProperties>
</file>